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1" r:id="rId12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2B1A08"/>
          </a:solidFill>
          <a:ln w="1270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68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DM Sans"/>
              </a:rPr>
              <a:t>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560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M Sans"/>
              </a:rPr>
              <a:t>TWIN Vietnam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7200"/>
                </a:solidFill>
                <a:latin typeface="DM Sans"/>
              </a:rPr>
              <a:t>01</a:t>
            </a:r>
            <a:r>
              <a:rPr sz="1100">
                <a:solidFill>
                  <a:srgbClr val="708299"/>
                </a:solidFill>
                <a:latin typeface="DM Sans"/>
              </a:rPr>
              <a:t>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1918411" cy="256032"/>
          </a:xfrm>
          <a:prstGeom prst="roundRect">
            <a:avLst>
              <a:gd name="adj" fmla="val 40000"/>
            </a:avLst>
          </a:prstGeom>
          <a:solidFill>
            <a:srgbClr val="2B1A08"/>
          </a:solidFill>
          <a:ln w="9525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32104"/>
            <a:ext cx="19184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200"/>
                </a:solidFill>
                <a:latin typeface="DM Sans"/>
              </a:rPr>
              <a:t>● THE CURRENT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DM Sans"/>
              </a:rPr>
              <a:t>The data exists. </a:t>
            </a:r>
            <a:r>
              <a:rPr sz="3200" b="1">
                <a:solidFill>
                  <a:srgbClr val="FF7200"/>
                </a:solidFill>
                <a:latin typeface="DM Sans"/>
              </a:rPr>
              <a:t>It just isn't shared.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DCC"/>
                </a:solidFill>
                <a:latin typeface="DM Sans"/>
              </a:rPr>
              <a:t>Every organisation in this demo already holds the data needed to execute cross-border trade. Identities are registered with national authorities. Documents live in government systems. Payments are processed through banks. But none of these systems talk to each other — creating delays, duplication and disputes at every handoff.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200400"/>
            <a:ext cx="3566160" cy="2331720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3284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DM Sans"/>
              </a:rPr>
              <a:t>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673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M Sans"/>
              </a:rPr>
              <a:t>Identities Exist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96512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DCC"/>
                </a:solidFill>
                <a:latin typeface="DM Sans"/>
              </a:rPr>
              <a:t>Every exporter, importer and customs authority has a legal registration — Business Registration Numbers, Tax IDs, licences — recorded in national government databases. But these registries are siloed. A Vietnamese manufacturer cannot verify a US importer's credentials without going through manual, paper-based checks.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239512"/>
            <a:ext cx="1371600" cy="219456"/>
          </a:xfrm>
          <a:prstGeom prst="roundRect">
            <a:avLst>
              <a:gd name="adj" fmla="val 10000"/>
            </a:avLst>
          </a:prstGeom>
          <a:solidFill>
            <a:srgbClr val="2B1010"/>
          </a:solidFill>
          <a:ln w="762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5257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DM Sans"/>
              </a:rPr>
              <a:t>✕  Not shared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3200400"/>
            <a:ext cx="3566160" cy="2331720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33284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DM Sans"/>
              </a:rP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7673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M Sans"/>
              </a:rPr>
              <a:t>Documents Exist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096512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DCC"/>
                </a:solidFill>
                <a:latin typeface="DM Sans"/>
              </a:rPr>
              <a:t>Certificates of Origin, Export Declarations, Bills of Lading and Commercial Invoices are issued by government agencies and shipping lines every day. But each document lives in a different system — emailed as PDFs, re-keyed into portals, re-verified by every party in the chain independently.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53128" y="5239512"/>
            <a:ext cx="1371600" cy="219456"/>
          </a:xfrm>
          <a:prstGeom prst="roundRect">
            <a:avLst>
              <a:gd name="adj" fmla="val 10000"/>
            </a:avLst>
          </a:prstGeom>
          <a:solidFill>
            <a:srgbClr val="2B1010"/>
          </a:solidFill>
          <a:ln w="762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5257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DM Sans"/>
              </a:rPr>
              <a:t>✕  Not shared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11312" y="3200400"/>
            <a:ext cx="3566160" cy="2331720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33284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DM Sans"/>
              </a:rPr>
              <a:t>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7673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M Sans"/>
              </a:rPr>
              <a:t>Finance Exists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4096512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DCC"/>
                </a:solidFill>
                <a:latin typeface="DM Sans"/>
              </a:rPr>
              <a:t>Letters of Credit, payment terms and trade finance instruments are already in use — processed through correspondent banking networks. But banks cannot automatically verify document compliance or trigger conditional release because they have no trusted access to the underlying trade documents.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8472" y="5239512"/>
            <a:ext cx="1371600" cy="219456"/>
          </a:xfrm>
          <a:prstGeom prst="roundRect">
            <a:avLst>
              <a:gd name="adj" fmla="val 10000"/>
            </a:avLst>
          </a:prstGeom>
          <a:solidFill>
            <a:srgbClr val="2B1010"/>
          </a:solidFill>
          <a:ln w="762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52578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DM Sans"/>
              </a:rPr>
              <a:t>✕  Not shared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650992"/>
            <a:ext cx="11365992" cy="713232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9525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5705856"/>
            <a:ext cx="274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DM San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05856"/>
            <a:ext cx="1077163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DCC"/>
                </a:solidFill>
                <a:latin typeface="DM Sans"/>
              </a:rPr>
              <a:t>TWIN Vietnam does not create new data. It creates the permissioned, verified channel through which existing data can be shared — on the terms of the organisation that owns it, with a distributed ledger as the trust anchor.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2B1A08"/>
          </a:solidFill>
          <a:ln w="1270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68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DM Sans"/>
              </a:rPr>
              <a:t>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560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M Sans"/>
              </a:rPr>
              <a:t>TWIN Vietnam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7200"/>
                </a:solidFill>
                <a:latin typeface="DM Sans"/>
              </a:rPr>
              <a:t>02</a:t>
            </a:r>
            <a:r>
              <a:rPr sz="1100">
                <a:solidFill>
                  <a:srgbClr val="708299"/>
                </a:solidFill>
                <a:latin typeface="DM Sans"/>
              </a:rPr>
              <a:t>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1834286" cy="256032"/>
          </a:xfrm>
          <a:prstGeom prst="roundRect">
            <a:avLst>
              <a:gd name="adj" fmla="val 40000"/>
            </a:avLst>
          </a:prstGeom>
          <a:solidFill>
            <a:srgbClr val="2B1A08"/>
          </a:solidFill>
          <a:ln w="9525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32104"/>
            <a:ext cx="18342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200"/>
                </a:solidFill>
                <a:latin typeface="DM Sans"/>
              </a:rPr>
              <a:t>● FRAMEWORK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DM Sans"/>
              </a:rPr>
              <a:t>TWIN is a </a:t>
            </a:r>
            <a:r>
              <a:rPr sz="3200" b="1">
                <a:solidFill>
                  <a:srgbClr val="FF7200"/>
                </a:solidFill>
                <a:latin typeface="DM Sans"/>
              </a:rPr>
              <a:t>framework</a:t>
            </a:r>
            <a:r>
              <a:rPr sz="3200" b="1">
                <a:solidFill>
                  <a:srgbClr val="FFFFFF"/>
                </a:solidFill>
                <a:latin typeface="DM Sans"/>
              </a:rPr>
              <a:t>,
not a replacement for what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42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BDCC"/>
                </a:solidFill>
                <a:latin typeface="DM Sans"/>
              </a:rPr>
              <a:t>TWIN — Trade Worldwide Information Network, Vietnam — is an open interoperability layer that connects governments, traders and financiers, enabling the data that already exists to flow securely between parties — with permission, with proof, and with full data sovereignty.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291840"/>
            <a:ext cx="3749039" cy="2487168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3456432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34198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DM Sans"/>
              </a:rPr>
              <a:t>🏛️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858768"/>
            <a:ext cx="3419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M Sans"/>
              </a:rPr>
              <a:t>Government Systems Stay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133088"/>
            <a:ext cx="341985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DCC"/>
                </a:solidFill>
                <a:latin typeface="DM Sans"/>
              </a:rPr>
              <a:t>TWIN connects to national trade portals, customs systems and identity registries via API. Nothing is replaced — data flows out of existing systems and is presented through a shared, permissioned layer.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5504688"/>
            <a:ext cx="1234440" cy="20116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552297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200"/>
                </a:solidFill>
                <a:latin typeface="DM Sans"/>
              </a:rPr>
              <a:t>Non-disruptive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5384" y="3291840"/>
            <a:ext cx="3749039" cy="2487168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3456432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34198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DM Sans"/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858768"/>
            <a:ext cx="3419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M Sans"/>
              </a:rPr>
              <a:t>Distributed Ledger as Trust Anchor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4133088"/>
            <a:ext cx="341985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DCC"/>
                </a:solidFill>
                <a:latin typeface="DM Sans"/>
              </a:rPr>
              <a:t>Every document, status change and transaction is anchored on a distributed ledger — creating an immutable, tamper-evident audit trail shared only with parties who have been explicitly granted access.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9976" y="5504688"/>
            <a:ext cx="1097280" cy="20116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55229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200"/>
                </a:solidFill>
                <a:latin typeface="DM Sans"/>
              </a:rPr>
              <a:t>Permissioned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8431" y="3291840"/>
            <a:ext cx="3749039" cy="2487168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3" y="3456432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3" y="34198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DM Sans"/>
              </a:rPr>
              <a:t>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3858768"/>
            <a:ext cx="34198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M Sans"/>
              </a:rPr>
              <a:t>Node Sovereignty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3" y="4133088"/>
            <a:ext cx="341985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DCC"/>
                </a:solidFill>
                <a:latin typeface="DM Sans"/>
              </a:rPr>
              <a:t>Each participating country or institution runs its own node. Data never leaves a node without the owner's explicit permission — sovereignty and data protection are built into the architecture.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93023" y="5504688"/>
            <a:ext cx="1371600" cy="20116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552297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200"/>
                </a:solidFill>
                <a:latin typeface="DM Sans"/>
              </a:rPr>
              <a:t>Data Sovereignty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897880"/>
            <a:ext cx="11365992" cy="74980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9525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5952744"/>
            <a:ext cx="27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DM Sans"/>
              </a:rPr>
              <a:t>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52744"/>
            <a:ext cx="10771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DCC"/>
                </a:solidFill>
                <a:latin typeface="DM Sans"/>
              </a:rPr>
              <a:t>What you're watching in this demo: two nodes (Vietnam export corridor + destination importers) communicating in real time — sharing consignment data, documents and financial records only when permission is explicitly granted. Every action is anchored on the distributed ledger as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447" y="205740"/>
            <a:ext cx="109700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7326E"/>
                </a:solidFill>
              </a:rPr>
              <a:t>TWIN Vietnam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0609" y="205740"/>
            <a:ext cx="1462674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99999"/>
                </a:solidFill>
              </a:rPr>
              <a:t>03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685800"/>
            <a:ext cx="109700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B8A6"/>
                </a:solidFill>
              </a:rPr>
              <a:t>VIETNAM EXPORT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" y="960120"/>
            <a:ext cx="109700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7326E"/>
                </a:solidFill>
              </a:rPr>
              <a:t>From Korean fabric to US customs clearance.
Every step verified, every document anchored.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337" y="1920240"/>
            <a:ext cx="170645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4B8A6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337" y="2194560"/>
            <a:ext cx="170645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7326E"/>
                </a:solidFill>
              </a:rPr>
              <a:t>Raw Materials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337" y="2606040"/>
            <a:ext cx="170645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</a:rPr>
              <a:t>Korean CoO +
Commercial Invoice
(Inputs)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337" y="4114800"/>
            <a:ext cx="170645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666666"/>
                </a:solidFill>
              </a:rPr>
              <a:t>Hyosung TNS
(South Korea)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2167" y="2743200"/>
            <a:ext cx="48755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5301" y="1920240"/>
            <a:ext cx="170645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4B8A6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5301" y="2194560"/>
            <a:ext cx="170645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7326E"/>
                </a:solidFill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5301" y="2606040"/>
            <a:ext cx="170645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</a:rPr>
              <a:t>Bill of Material
with origin
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5301" y="4114800"/>
            <a:ext cx="170645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666666"/>
                </a:solidFill>
              </a:rPr>
              <a:t>TNG (Vietnam)
65.5% VN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6131" y="2743200"/>
            <a:ext cx="48755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9265" y="1920240"/>
            <a:ext cx="170645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4B8A6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9265" y="2194560"/>
            <a:ext cx="170645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7326E"/>
                </a:solidFill>
              </a:rPr>
              <a:t>Inspection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9265" y="2606040"/>
            <a:ext cx="170645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</a:rPr>
              <a:t>Quality
Inspection
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9265" y="4114800"/>
            <a:ext cx="170645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666666"/>
                </a:solidFill>
              </a:rPr>
              <a:t>Bureau Veritas
Vietnam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0095" y="2743200"/>
            <a:ext cx="48755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3229" y="1920240"/>
            <a:ext cx="170645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4B8A6"/>
                </a:solidFill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3229" y="2194560"/>
            <a:ext cx="170645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7326E"/>
                </a:solidFill>
              </a:rP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3229" y="2606040"/>
            <a:ext cx="170645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</a:rPr>
              <a:t>MOIT CoO +
Export Declaration
+ Invoice + Packing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3229" y="4114800"/>
            <a:ext cx="170645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666666"/>
                </a:solidFill>
              </a:rPr>
              <a:t>MOIT + TNG
+ Gemadept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59" y="2743200"/>
            <a:ext cx="48755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7193" y="1920240"/>
            <a:ext cx="170645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4B8A6"/>
                </a:solidFill>
              </a:rP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7193" y="2194560"/>
            <a:ext cx="170645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7326E"/>
                </a:solidFill>
              </a:rPr>
              <a:t>Departure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7193" y="2606040"/>
            <a:ext cx="170645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</a:rPr>
              <a:t>Export clearance
+ Bill of Lading
+ Port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7193" y="4114800"/>
            <a:ext cx="170645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666666"/>
                </a:solidFill>
              </a:rPr>
              <a:t>Customs + Maersk
+ Cat Lai 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8023" y="2743200"/>
            <a:ext cx="48755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14B8A6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1157" y="1920240"/>
            <a:ext cx="170645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4B8A6"/>
                </a:solidFill>
              </a:rPr>
              <a:t>Step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1157" y="2194560"/>
            <a:ext cx="1706453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7326E"/>
                </a:solidFill>
              </a:rPr>
              <a:t>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1157" y="2606040"/>
            <a:ext cx="170645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</a:rPr>
              <a:t>CBP origin
verification
(destination)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1157" y="4114800"/>
            <a:ext cx="170645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666666"/>
                </a:solidFill>
              </a:rPr>
              <a:t>US CBP / EU
Customs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47238" y="5074920"/>
            <a:ext cx="60944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7326E"/>
                </a:solidFill>
              </a:rPr>
              <a:t>Cross-border P2P share: TNG shares verified dossier to Nike + US CBP via TWIN network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447" y="6035040"/>
            <a:ext cx="109700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Every document is anchored on the distributed ledger with a cryptographic hash. The destination party receives a tamper-proof, verified digital dossier, replacing weeks of manual document exchange.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2B1A08"/>
          </a:solidFill>
          <a:ln w="1270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68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DM Sans"/>
              </a:rPr>
              <a:t>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560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M Sans"/>
              </a:rPr>
              <a:t>TWIN Vietnam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7200"/>
                </a:solidFill>
                <a:latin typeface="DM Sans"/>
              </a:rPr>
              <a:t>04</a:t>
            </a:r>
            <a:r>
              <a:rPr sz="1100">
                <a:solidFill>
                  <a:srgbClr val="708299"/>
                </a:solidFill>
                <a:latin typeface="DM Sans"/>
              </a:rPr>
              <a:t>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2759659" cy="256032"/>
          </a:xfrm>
          <a:prstGeom prst="roundRect">
            <a:avLst>
              <a:gd name="adj" fmla="val 40000"/>
            </a:avLst>
          </a:prstGeom>
          <a:solidFill>
            <a:srgbClr val="2B1A08"/>
          </a:solidFill>
          <a:ln w="9525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32104"/>
            <a:ext cx="27596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200"/>
                </a:solidFill>
                <a:latin typeface="DM Sans"/>
              </a:rPr>
              <a:t>● IDENTITY · DOCUMENTS ·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DM Sans"/>
              </a:rPr>
              <a:t>Trust begins with </a:t>
            </a:r>
            <a:r>
              <a:rPr sz="2800" b="1">
                <a:solidFill>
                  <a:srgbClr val="FF7200"/>
                </a:solidFill>
                <a:latin typeface="DM Sans"/>
              </a:rPr>
              <a:t>verified identity</a:t>
            </a:r>
            <a:r>
              <a:rPr sz="2800" b="1">
                <a:solidFill>
                  <a:srgbClr val="FFFFFF"/>
                </a:solidFill>
                <a:latin typeface="DM Sans"/>
              </a:rPr>
              <a:t>
and government-issued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31720"/>
            <a:ext cx="5577840" cy="1920240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" y="2496312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4597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DM Sans"/>
              </a:rPr>
              <a:t>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98648"/>
            <a:ext cx="5248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M Sans"/>
              </a:rPr>
              <a:t>Identity Interoperability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172968"/>
            <a:ext cx="52486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DCC"/>
                </a:solidFill>
                <a:latin typeface="DM Sans"/>
              </a:rPr>
              <a:t>Each organisation registers with a national credential — Business Registration Number, Tax ID or Legal Entity Identifier. TWIN validates against the national registry (e.g. Vietnam's MST registry, Korea's KBN, US EIN) and issues a Decentralised Identifier (DID) anchored on the ledger. A US buyer's identity can be cryptographically verified by a Vietnamese manufacturer — without any shared intermediary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3977640"/>
            <a:ext cx="1920239" cy="20116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995928"/>
            <a:ext cx="19202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200"/>
                </a:solidFill>
                <a:latin typeface="DM Sans"/>
              </a:rPr>
              <a:t>Verified · DID on ledger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361688"/>
            <a:ext cx="5577840" cy="1920240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" y="4526280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44897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DM Sans"/>
              </a:rPr>
              <a:t>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928616"/>
            <a:ext cx="5248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M Sans"/>
              </a:rPr>
              <a:t>Documents from Government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5202936"/>
            <a:ext cx="52486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DCC"/>
                </a:solidFill>
                <a:latin typeface="DM Sans"/>
              </a:rPr>
              <a:t>Export Declarations, Certificates of Origin and Customs Clearances are not uploaded manually. They are pulled directly from government systems via API — MOIT eCoSys, VNACCS, Korea Customs Service — and attached to the consignment's digital twin. TWIN is a conduit, not a repository.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6007608"/>
            <a:ext cx="2194560" cy="20116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6025896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200"/>
                </a:solidFill>
                <a:latin typeface="DM Sans"/>
              </a:rPr>
              <a:t>API-native · Source-verified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331720"/>
            <a:ext cx="5632704" cy="3017520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496312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4597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DM Sans"/>
              </a:rPr>
              <a:t>⛓️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8986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M Sans"/>
              </a:rPr>
              <a:t>Distributed Ledger — The Trust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172968"/>
            <a:ext cx="53035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DCC"/>
                </a:solidFill>
                <a:latin typeface="DM Sans"/>
              </a:rPr>
              <a:t>The ledger serves one purpose in TWIN: proof of event.
Every time a document is issued, a status changes, a permission is granted or a payment is released, a cryptographic hash of that event is written to the distributed ledger.
No single party controls it — not any government, bank or technology vendor. This makes the audit trail trustworthy to all parties without requiring a central authority.
This eliminates disputes over "was this document presented?" or "when did customs clear?" — the answer is on the ledger, timestamped and tamper-proof.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074920"/>
            <a:ext cx="3017520" cy="20116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50932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200"/>
                </a:solidFill>
                <a:latin typeface="DM Sans"/>
              </a:rPr>
              <a:t>Immutable · Decentralised · Permissioned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5458968"/>
            <a:ext cx="5632704" cy="804672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9525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513832"/>
            <a:ext cx="2743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DM Sans"/>
              </a:rPr>
              <a:t>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688" y="5513832"/>
            <a:ext cx="5038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DCC"/>
                </a:solidFill>
                <a:latin typeface="DM Sans"/>
              </a:rPr>
              <a:t>Key distinction: The ledger does not store documents or personal data. It stores only cryptographic proofs — so sensitive trade data never leaves the node that owns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2B1A08"/>
          </a:solidFill>
          <a:ln w="1270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68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DM Sans"/>
              </a:rPr>
              <a:t>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560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DM Sans"/>
              </a:rPr>
              <a:t>TWIN Vietnam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7200"/>
                </a:solidFill>
                <a:latin typeface="DM Sans"/>
              </a:rPr>
              <a:t>05</a:t>
            </a:r>
            <a:r>
              <a:rPr sz="1100">
                <a:solidFill>
                  <a:srgbClr val="708299"/>
                </a:solidFill>
                <a:latin typeface="DM Sans"/>
              </a:rPr>
              <a:t>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3012033" cy="256032"/>
          </a:xfrm>
          <a:prstGeom prst="roundRect">
            <a:avLst>
              <a:gd name="adj" fmla="val 40000"/>
            </a:avLst>
          </a:prstGeom>
          <a:solidFill>
            <a:srgbClr val="2B1A08"/>
          </a:solidFill>
          <a:ln w="9525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32104"/>
            <a:ext cx="301203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200"/>
                </a:solidFill>
                <a:latin typeface="DM Sans"/>
              </a:rPr>
              <a:t>● PAYMENTS · TRADE FINANCE ·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DM Sans"/>
              </a:rPr>
              <a:t>From shipment to </a:t>
            </a:r>
            <a:r>
              <a:rPr sz="3000" b="1">
                <a:solidFill>
                  <a:srgbClr val="FF7200"/>
                </a:solidFill>
                <a:latin typeface="DM Sans"/>
              </a:rPr>
              <a:t>settlement</a:t>
            </a:r>
            <a:r>
              <a:rPr sz="3000" b="1">
                <a:solidFill>
                  <a:srgbClr val="FFFFFF"/>
                </a:solidFill>
                <a:latin typeface="DM Sans"/>
              </a:rPr>
              <a:t> — on one permissioned rail.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0312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" y="2267712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2311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DM Sans"/>
              </a:rPr>
              <a:t>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670048"/>
            <a:ext cx="2459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M Sans"/>
              </a:rPr>
              <a:t>Payment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944368"/>
            <a:ext cx="2459736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DCC"/>
                </a:solidFill>
                <a:latin typeface="DM Sans"/>
              </a:rPr>
              <a:t>Exporters raise payment records linked to commercial invoices. Status moves Unpaid → Partially Paid → Paid, with every confirmation anchored on the ledger. All parties with finance access see a live, tamper-proof payment trail.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069080"/>
            <a:ext cx="1234440" cy="20116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408736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200"/>
                </a:solidFill>
                <a:latin typeface="DM Sans"/>
              </a:rPr>
              <a:t>Invoice-linked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4408" y="210312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2267712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2311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DM Sans"/>
              </a:rPr>
              <a:t>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670048"/>
            <a:ext cx="2459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M Sans"/>
              </a:rPr>
              <a:t>Letters of Credit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944368"/>
            <a:ext cx="2459736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DCC"/>
                </a:solidFill>
                <a:latin typeface="DM Sans"/>
              </a:rPr>
              <a:t>LCs are created on-framework, linked to the consignment's document set. Each stage — Draft through to Drawn — is progressed by the relevant party and anchored. Document compliance is checked automatically against submitted docs.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4069080"/>
            <a:ext cx="1097280" cy="20116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5576" y="40873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200"/>
                </a:solidFill>
                <a:latin typeface="DM Sans"/>
              </a:rPr>
              <a:t>Bank-bridged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17336" y="210312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2267712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22311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DM Sans"/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2670048"/>
            <a:ext cx="2459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M Sans"/>
              </a:rPr>
              <a:t>Smart Contract 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2944368"/>
            <a:ext cx="2459736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DCC"/>
                </a:solidFill>
                <a:latin typeface="DM Sans"/>
              </a:rPr>
              <a:t>Payment release conditions are encoded in a contract. When all conditions are met — e.g. MOIT Certificate of Origin verified and origin composition &gt;= 55% Vietnam content — payment is automatically released and anchored with the contract hash.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1928" y="4069080"/>
            <a:ext cx="1097280" cy="20116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40873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200"/>
                </a:solidFill>
                <a:latin typeface="DM Sans"/>
              </a:rPr>
              <a:t>Auto-release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0264" y="2103120"/>
            <a:ext cx="2788920" cy="2240280"/>
          </a:xfrm>
          <a:prstGeom prst="roundRect">
            <a:avLst>
              <a:gd name="adj" fmla="val 12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34856" y="2267712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22311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DM Sans"/>
              </a:rP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2670048"/>
            <a:ext cx="2459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M Sans"/>
              </a:rPr>
              <a:t>Finance Permissions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2944368"/>
            <a:ext cx="2459736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B0BDCC"/>
                </a:solidFill>
                <a:latin typeface="DM Sans"/>
              </a:rPr>
              <a:t>Financial data has its own separate permission layer from trade data. A customs officer who can see a consignment cannot see its payment records unless the exporter explicitly shares finance access.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34856" y="4069080"/>
            <a:ext cx="1234440" cy="201168"/>
          </a:xfrm>
          <a:prstGeom prst="roundRect">
            <a:avLst>
              <a:gd name="adj" fmla="val 10000"/>
            </a:avLst>
          </a:prstGeom>
          <a:solidFill>
            <a:srgbClr val="2B1A08"/>
          </a:solidFill>
          <a:ln w="762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71432" y="408736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7200"/>
                </a:solidFill>
                <a:latin typeface="DM Sans"/>
              </a:rPr>
              <a:t>Separate layer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480560"/>
            <a:ext cx="11365992" cy="2103120"/>
          </a:xfrm>
          <a:prstGeom prst="roundRect">
            <a:avLst>
              <a:gd name="adj" fmla="val 10000"/>
            </a:avLst>
          </a:prstGeom>
          <a:solidFill>
            <a:srgbClr val="1C3055"/>
          </a:solidFill>
          <a:ln w="9525">
            <a:solidFill>
              <a:srgbClr val="2A4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617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DM Sans"/>
              </a:rPr>
              <a:t>🖥️  Node Architecture — Data Stays Where It Belongs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95604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7200"/>
                </a:solidFill>
                <a:latin typeface="DM Sans"/>
              </a:rPr>
              <a:t>Ownership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175504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DCC"/>
                </a:solidFill>
                <a:latin typeface="DM Sans"/>
              </a:rPr>
              <a:t>Each node is operated by its owner — a government ministry, customs authority or trade institution. They control what data enters, who can see it and when access is revoked.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5384" y="4892040"/>
            <a:ext cx="9144" cy="1554480"/>
          </a:xfrm>
          <a:prstGeom prst="rect">
            <a:avLst/>
          </a:prstGeom>
          <a:solidFill>
            <a:srgbClr val="2A4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1688" y="495604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7200"/>
                </a:solidFill>
                <a:latin typeface="DM Sans"/>
              </a:rPr>
              <a:t>Peer Sync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61688" y="5175504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DCC"/>
                </a:solidFill>
                <a:latin typeface="DM Sans"/>
              </a:rPr>
              <a:t>Nodes connect peer-to-peer to share organisation directories and permitted data. In this demo, Node Alpha (exporters &amp; customs) connects to Node Beta (importers) to enable cross-party visibility.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82712" y="4892040"/>
            <a:ext cx="9144" cy="1554480"/>
          </a:xfrm>
          <a:prstGeom prst="rect">
            <a:avLst/>
          </a:prstGeom>
          <a:solidFill>
            <a:srgbClr val="2A4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29016" y="4956048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7200"/>
                </a:solidFill>
                <a:latin typeface="DM Sans"/>
              </a:rPr>
              <a:t>Data Protection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29016" y="5175504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DCC"/>
                </a:solidFill>
                <a:latin typeface="DM Sans"/>
              </a:rPr>
              <a:t>A consignment's documents, payments and contracts are visible only to organisations that have been granted explicit access. No party sees data they have not been invited to — even on the same node.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46888"/>
            <a:ext cx="384048" cy="384048"/>
          </a:xfrm>
          <a:prstGeom prst="rect">
            <a:avLst/>
          </a:prstGeom>
          <a:solidFill>
            <a:srgbClr val="2B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6888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DM Sans"/>
              </a:rPr>
              <a:t>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56032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1">
                <a:solidFill>
                  <a:srgbClr val="FFFFFF"/>
                </a:solidFill>
                <a:latin typeface="DM Sans"/>
              </a:rPr>
              <a:t>TWIN Vietnam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74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FF7200"/>
                </a:solidFill>
                <a:latin typeface="DM Sans"/>
              </a:rPr>
              <a:t>06</a:t>
            </a:r>
            <a:r>
              <a:rPr sz="1100">
                <a:solidFill>
                  <a:srgbClr val="708299"/>
                </a:solidFill>
                <a:latin typeface="DM Sans"/>
              </a:rPr>
              <a:t>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2286000" cy="256032"/>
          </a:xfrm>
          <a:prstGeom prst="rect">
            <a:avLst/>
          </a:prstGeom>
          <a:solidFill>
            <a:srgbClr val="2B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32104"/>
            <a:ext cx="2286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FF7200"/>
                </a:solidFill>
                <a:latin typeface="DM Sans"/>
              </a:rPr>
              <a:t>● HOW TO PARTICIPATE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11338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DM Sans"/>
              </a:rPr>
              <a:t>Three ways to connect your organisation to TWIN.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113385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B0BDCC"/>
                </a:solidFill>
                <a:latin typeface="DM Sans"/>
              </a:rPr>
              <a:t>Whether you're a government authority, a large trader, or a small importer — there is an integration path that fits your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50592"/>
            <a:ext cx="3566160" cy="3108960"/>
          </a:xfrm>
          <a:prstGeom prst="rect">
            <a:avLst/>
          </a:prstGeom>
          <a:solidFill>
            <a:srgbClr val="1C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56032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FFFFFF"/>
                </a:solidFill>
                <a:latin typeface="DM Sans"/>
              </a:rPr>
              <a:t>🖥️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3017520"/>
            <a:ext cx="33832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DM Sans"/>
              </a:rPr>
              <a:t>Host a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383280"/>
            <a:ext cx="3346704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0BDCC"/>
                </a:solidFill>
                <a:latin typeface="DM Sans"/>
              </a:rPr>
              <a:t>Run your own TWIN node on your infrastructure. Publish and manage your organisation's data locally — consignments, identities, documents. Sync automatically with peer nodes via P2P when you grant permission.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" y="5175504"/>
            <a:ext cx="3346704" cy="274320"/>
          </a:xfrm>
          <a:prstGeom prst="rect">
            <a:avLst/>
          </a:prstGeom>
          <a:solidFill>
            <a:srgbClr val="0F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5184648"/>
            <a:ext cx="3310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08299"/>
                </a:solidFill>
                <a:latin typeface="DM Sans"/>
              </a:rPr>
              <a:t>Best for: governments, customs authorities, major trade institutions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2450592"/>
            <a:ext cx="3566160" cy="3108960"/>
          </a:xfrm>
          <a:prstGeom prst="rect">
            <a:avLst/>
          </a:prstGeom>
          <a:solidFill>
            <a:srgbClr val="1C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256032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FFFFFF"/>
                </a:solidFill>
                <a:latin typeface="DM Sans"/>
              </a:rPr>
              <a:t>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3017520"/>
            <a:ext cx="33832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DM Sans"/>
              </a:rPr>
              <a:t>API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3383280"/>
            <a:ext cx="3346704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0BDCC"/>
                </a:solidFill>
                <a:latin typeface="DM Sans"/>
              </a:rPr>
              <a:t>Connect your existing ERP, customs portal, or port management system directly to the framework via REST API. Push and pull consignment data, documents, and events programmatically — no UI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6" y="5175504"/>
            <a:ext cx="3346704" cy="274320"/>
          </a:xfrm>
          <a:prstGeom prst="rect">
            <a:avLst/>
          </a:prstGeom>
          <a:solidFill>
            <a:srgbClr val="0F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3" y="5184648"/>
            <a:ext cx="3310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08299"/>
                </a:solidFill>
                <a:latin typeface="DM Sans"/>
              </a:rPr>
              <a:t>Best for: national agencies, banks, logistics platforms with existing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11312" y="2450592"/>
            <a:ext cx="3566160" cy="3108960"/>
          </a:xfrm>
          <a:prstGeom prst="rect">
            <a:avLst/>
          </a:prstGeom>
          <a:solidFill>
            <a:srgbClr val="1C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2560320"/>
            <a:ext cx="3566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FFFFFF"/>
                </a:solidFill>
                <a:latin typeface="DM Sans"/>
              </a:rPr>
              <a:t>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17520"/>
            <a:ext cx="33832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DM Sans"/>
              </a:rPr>
              <a:t>Upload via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83280"/>
            <a:ext cx="3346704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0BDCC"/>
                </a:solidFill>
                <a:latin typeface="DM Sans"/>
              </a:rPr>
              <a:t>Use the web interface directly. Upload documents, register your organisation's DID, create consignments, and share trade data with partners — all from a browser. No technical integration needed.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5175504"/>
            <a:ext cx="3346704" cy="274320"/>
          </a:xfrm>
          <a:prstGeom prst="rect">
            <a:avLst/>
          </a:prstGeom>
          <a:solidFill>
            <a:srgbClr val="1E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5184648"/>
            <a:ext cx="3310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708299"/>
                </a:solidFill>
                <a:latin typeface="DM Sans"/>
              </a:rPr>
              <a:t>Best for: SMEs, importers, exporters with no dedicated IT team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742432"/>
            <a:ext cx="11365992" cy="713232"/>
          </a:xfrm>
          <a:prstGeom prst="rect">
            <a:avLst/>
          </a:prstGeom>
          <a:solidFill>
            <a:srgbClr val="2B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5797296"/>
            <a:ext cx="274320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7200"/>
                </a:solidFill>
                <a:latin typeface="DM San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97296"/>
            <a:ext cx="10771632" cy="6035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>
                <a:solidFill>
                  <a:srgbClr val="B0BDCC"/>
                </a:solidFill>
                <a:latin typeface="DM Sans"/>
              </a:rPr>
              <a:t>All three paths produce the same result: your data on the TWIN network, permissioned, verified, and anchored on the distributed ledger.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