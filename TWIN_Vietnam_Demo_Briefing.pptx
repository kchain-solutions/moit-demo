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61" r:id="rId12"/>
    <p:sldId id="258" r:id="rId9"/>
    <p:sldId id="259" r:id="rId10"/>
    <p:sldId id="260" r:id="rId1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447" y="205740"/>
            <a:ext cx="4875580" cy="411480"/>
          </a:xfrm>
          <a:prstGeom prst="rect">
            <a:avLst/>
          </a:prstGeom>
          <a:noFill/>
        </p:spPr>
        <p:txBody>
          <a:bodyPr wrap="square">
            <a:spAutoFit/>
          </a:bodyPr>
          <a:lstStyle/>
          <a:p>
            <a:pPr algn="l"/>
            <a:r>
              <a:rPr sz="1400" b="1">
                <a:solidFill>
                  <a:srgbClr val="37326E"/>
                </a:solidFill>
              </a:rPr>
              <a:t>TWIN Vietnam</a:t>
            </a:r>
          </a:p>
        </p:txBody>
      </p:sp>
      <p:sp>
        <p:nvSpPr>
          <p:cNvPr id="3" name="TextBox 2"/>
          <p:cNvSpPr txBox="1"/>
          <p:nvPr/>
        </p:nvSpPr>
        <p:spPr>
          <a:xfrm>
            <a:off x="10360609" y="205740"/>
            <a:ext cx="1462674" cy="342900"/>
          </a:xfrm>
          <a:prstGeom prst="rect">
            <a:avLst/>
          </a:prstGeom>
          <a:noFill/>
        </p:spPr>
        <p:txBody>
          <a:bodyPr wrap="square">
            <a:spAutoFit/>
          </a:bodyPr>
          <a:lstStyle/>
          <a:p>
            <a:pPr algn="r"/>
            <a:r>
              <a:rPr sz="1100" b="0">
                <a:solidFill>
                  <a:srgbClr val="999999"/>
                </a:solidFill>
              </a:rPr>
              <a:t>01 / 06</a:t>
            </a:r>
          </a:p>
        </p:txBody>
      </p:sp>
      <p:sp>
        <p:nvSpPr>
          <p:cNvPr id="4" name="TextBox 3"/>
          <p:cNvSpPr txBox="1"/>
          <p:nvPr/>
        </p:nvSpPr>
        <p:spPr>
          <a:xfrm>
            <a:off x="609447" y="685800"/>
            <a:ext cx="10970056" cy="274320"/>
          </a:xfrm>
          <a:prstGeom prst="rect">
            <a:avLst/>
          </a:prstGeom>
          <a:noFill/>
        </p:spPr>
        <p:txBody>
          <a:bodyPr wrap="square">
            <a:spAutoFit/>
          </a:bodyPr>
          <a:lstStyle/>
          <a:p>
            <a:pPr algn="l"/>
            <a:r>
              <a:rPr sz="1000" b="1">
                <a:solidFill>
                  <a:srgbClr val="14B8A6"/>
                </a:solidFill>
              </a:rPr>
              <a:t>THE CURRENT REALITY</a:t>
            </a:r>
          </a:p>
        </p:txBody>
      </p:sp>
      <p:sp>
        <p:nvSpPr>
          <p:cNvPr id="5" name="TextBox 4"/>
          <p:cNvSpPr txBox="1"/>
          <p:nvPr/>
        </p:nvSpPr>
        <p:spPr>
          <a:xfrm>
            <a:off x="609447" y="960120"/>
            <a:ext cx="10970056" cy="685800"/>
          </a:xfrm>
          <a:prstGeom prst="rect">
            <a:avLst/>
          </a:prstGeom>
          <a:noFill/>
        </p:spPr>
        <p:txBody>
          <a:bodyPr wrap="square">
            <a:spAutoFit/>
          </a:bodyPr>
          <a:lstStyle/>
          <a:p>
            <a:pPr algn="l"/>
            <a:r>
              <a:rPr sz="1800" b="1">
                <a:solidFill>
                  <a:srgbClr val="37326E"/>
                </a:solidFill>
              </a:rPr>
              <a:t>The data exists. It just isn't shared.</a:t>
            </a:r>
          </a:p>
        </p:txBody>
      </p:sp>
      <p:sp>
        <p:nvSpPr>
          <p:cNvPr id="6" name="TextBox 5"/>
          <p:cNvSpPr txBox="1"/>
          <p:nvPr/>
        </p:nvSpPr>
        <p:spPr>
          <a:xfrm>
            <a:off x="609447" y="1645920"/>
            <a:ext cx="10970056" cy="548640"/>
          </a:xfrm>
          <a:prstGeom prst="rect">
            <a:avLst/>
          </a:prstGeom>
          <a:noFill/>
        </p:spPr>
        <p:txBody>
          <a:bodyPr wrap="square">
            <a:spAutoFit/>
          </a:bodyPr>
          <a:lstStyle/>
          <a:p>
            <a:pPr algn="l"/>
            <a:r>
              <a:rPr sz="1000" b="0">
                <a:solidFill>
                  <a:srgbClr val="666666"/>
                </a:solidFill>
              </a:rPr>
              <a:t>Every organisation already holds the data needed to execute cross-border trade. Identities are registered. Documents live in government systems. Payments flow through banks. But none of these systems talk to each other.</a:t>
            </a:r>
          </a:p>
        </p:txBody>
      </p:sp>
      <p:sp>
        <p:nvSpPr>
          <p:cNvPr id="7" name="TextBox 6"/>
          <p:cNvSpPr txBox="1"/>
          <p:nvPr/>
        </p:nvSpPr>
        <p:spPr>
          <a:xfrm>
            <a:off x="975116" y="2468880"/>
            <a:ext cx="3412906" cy="342900"/>
          </a:xfrm>
          <a:prstGeom prst="rect">
            <a:avLst/>
          </a:prstGeom>
          <a:noFill/>
        </p:spPr>
        <p:txBody>
          <a:bodyPr wrap="square">
            <a:spAutoFit/>
          </a:bodyPr>
          <a:lstStyle/>
          <a:p>
            <a:pPr algn="l"/>
            <a:r>
              <a:rPr sz="1300" b="1">
                <a:solidFill>
                  <a:srgbClr val="37326E"/>
                </a:solidFill>
              </a:rPr>
              <a:t>Identities Exist</a:t>
            </a:r>
          </a:p>
        </p:txBody>
      </p:sp>
      <p:sp>
        <p:nvSpPr>
          <p:cNvPr id="8" name="TextBox 7"/>
          <p:cNvSpPr txBox="1"/>
          <p:nvPr/>
        </p:nvSpPr>
        <p:spPr>
          <a:xfrm>
            <a:off x="975116" y="2811780"/>
            <a:ext cx="3412906" cy="1920240"/>
          </a:xfrm>
          <a:prstGeom prst="rect">
            <a:avLst/>
          </a:prstGeom>
          <a:noFill/>
        </p:spPr>
        <p:txBody>
          <a:bodyPr wrap="square">
            <a:spAutoFit/>
          </a:bodyPr>
          <a:lstStyle/>
          <a:p>
            <a:pPr algn="l"/>
            <a:r>
              <a:rPr sz="900" b="0">
                <a:solidFill>
                  <a:srgbClr val="333333"/>
                </a:solidFill>
              </a:rPr>
              <a:t>Every exporter, importer and customs authority has a legal registration (MST, KBN, EIN, EORI) recorded in national databases.
But these registries are siloed. A Vietnamese manufacturer cannot verify a US importer's credentials without manual, paper-based checks.</a:t>
            </a:r>
          </a:p>
        </p:txBody>
      </p:sp>
      <p:sp>
        <p:nvSpPr>
          <p:cNvPr id="9" name="TextBox 8"/>
          <p:cNvSpPr txBox="1"/>
          <p:nvPr/>
        </p:nvSpPr>
        <p:spPr>
          <a:xfrm>
            <a:off x="975116" y="4800600"/>
            <a:ext cx="3412906" cy="274320"/>
          </a:xfrm>
          <a:prstGeom prst="rect">
            <a:avLst/>
          </a:prstGeom>
          <a:noFill/>
        </p:spPr>
        <p:txBody>
          <a:bodyPr wrap="square">
            <a:spAutoFit/>
          </a:bodyPr>
          <a:lstStyle/>
          <a:p>
            <a:pPr algn="l"/>
            <a:r>
              <a:rPr sz="800" b="1" i="1">
                <a:solidFill>
                  <a:srgbClr val="DC2626"/>
                </a:solidFill>
              </a:rPr>
              <a:t>Not shared</a:t>
            </a:r>
          </a:p>
        </p:txBody>
      </p:sp>
      <p:sp>
        <p:nvSpPr>
          <p:cNvPr id="10" name="TextBox 9"/>
          <p:cNvSpPr txBox="1"/>
          <p:nvPr/>
        </p:nvSpPr>
        <p:spPr>
          <a:xfrm>
            <a:off x="4388022" y="2468880"/>
            <a:ext cx="3412906" cy="342900"/>
          </a:xfrm>
          <a:prstGeom prst="rect">
            <a:avLst/>
          </a:prstGeom>
          <a:noFill/>
        </p:spPr>
        <p:txBody>
          <a:bodyPr wrap="square">
            <a:spAutoFit/>
          </a:bodyPr>
          <a:lstStyle/>
          <a:p>
            <a:pPr algn="l"/>
            <a:r>
              <a:rPr sz="1300" b="1">
                <a:solidFill>
                  <a:srgbClr val="37326E"/>
                </a:solidFill>
              </a:rPr>
              <a:t>Documents Exist</a:t>
            </a:r>
          </a:p>
        </p:txBody>
      </p:sp>
      <p:sp>
        <p:nvSpPr>
          <p:cNvPr id="11" name="TextBox 10"/>
          <p:cNvSpPr txBox="1"/>
          <p:nvPr/>
        </p:nvSpPr>
        <p:spPr>
          <a:xfrm>
            <a:off x="4388022" y="2811780"/>
            <a:ext cx="3412906" cy="1920240"/>
          </a:xfrm>
          <a:prstGeom prst="rect">
            <a:avLst/>
          </a:prstGeom>
          <a:noFill/>
        </p:spPr>
        <p:txBody>
          <a:bodyPr wrap="square">
            <a:spAutoFit/>
          </a:bodyPr>
          <a:lstStyle/>
          <a:p>
            <a:pPr algn="l"/>
            <a:r>
              <a:rPr sz="900" b="0">
                <a:solidFill>
                  <a:srgbClr val="333333"/>
                </a:solidFill>
              </a:rPr>
              <a:t>Certificates of Origin, Export Declarations, Bills of Lading and Commercial Invoices are issued every day by government agencies and carriers.
But each document lives in a different system, emailed as PDFs, re-keyed into portals, re-verified independently.</a:t>
            </a:r>
          </a:p>
        </p:txBody>
      </p:sp>
      <p:sp>
        <p:nvSpPr>
          <p:cNvPr id="12" name="TextBox 11"/>
          <p:cNvSpPr txBox="1"/>
          <p:nvPr/>
        </p:nvSpPr>
        <p:spPr>
          <a:xfrm>
            <a:off x="4388022" y="4800600"/>
            <a:ext cx="3412906" cy="274320"/>
          </a:xfrm>
          <a:prstGeom prst="rect">
            <a:avLst/>
          </a:prstGeom>
          <a:noFill/>
        </p:spPr>
        <p:txBody>
          <a:bodyPr wrap="square">
            <a:spAutoFit/>
          </a:bodyPr>
          <a:lstStyle/>
          <a:p>
            <a:pPr algn="l"/>
            <a:r>
              <a:rPr sz="800" b="1" i="1">
                <a:solidFill>
                  <a:srgbClr val="DC2626"/>
                </a:solidFill>
              </a:rPr>
              <a:t>Not shared</a:t>
            </a:r>
          </a:p>
        </p:txBody>
      </p:sp>
      <p:sp>
        <p:nvSpPr>
          <p:cNvPr id="13" name="TextBox 12"/>
          <p:cNvSpPr txBox="1"/>
          <p:nvPr/>
        </p:nvSpPr>
        <p:spPr>
          <a:xfrm>
            <a:off x="7800928" y="2468880"/>
            <a:ext cx="3412906" cy="342900"/>
          </a:xfrm>
          <a:prstGeom prst="rect">
            <a:avLst/>
          </a:prstGeom>
          <a:noFill/>
        </p:spPr>
        <p:txBody>
          <a:bodyPr wrap="square">
            <a:spAutoFit/>
          </a:bodyPr>
          <a:lstStyle/>
          <a:p>
            <a:pPr algn="l"/>
            <a:r>
              <a:rPr sz="1300" b="1">
                <a:solidFill>
                  <a:srgbClr val="37326E"/>
                </a:solidFill>
              </a:rPr>
              <a:t>Finance Exists</a:t>
            </a:r>
          </a:p>
        </p:txBody>
      </p:sp>
      <p:sp>
        <p:nvSpPr>
          <p:cNvPr id="14" name="TextBox 13"/>
          <p:cNvSpPr txBox="1"/>
          <p:nvPr/>
        </p:nvSpPr>
        <p:spPr>
          <a:xfrm>
            <a:off x="7800928" y="2811780"/>
            <a:ext cx="3412906" cy="1920240"/>
          </a:xfrm>
          <a:prstGeom prst="rect">
            <a:avLst/>
          </a:prstGeom>
          <a:noFill/>
        </p:spPr>
        <p:txBody>
          <a:bodyPr wrap="square">
            <a:spAutoFit/>
          </a:bodyPr>
          <a:lstStyle/>
          <a:p>
            <a:pPr algn="l"/>
            <a:r>
              <a:rPr sz="900" b="0">
                <a:solidFill>
                  <a:srgbClr val="333333"/>
                </a:solidFill>
              </a:rPr>
              <a:t>Letters of Credit, payment terms and trade finance instruments are processed through correspondent banking networks.
But banks cannot automatically verify document compliance or trigger conditional release without trusted access to trade documents.</a:t>
            </a:r>
          </a:p>
        </p:txBody>
      </p:sp>
      <p:sp>
        <p:nvSpPr>
          <p:cNvPr id="15" name="TextBox 14"/>
          <p:cNvSpPr txBox="1"/>
          <p:nvPr/>
        </p:nvSpPr>
        <p:spPr>
          <a:xfrm>
            <a:off x="7800928" y="4800600"/>
            <a:ext cx="3412906" cy="274320"/>
          </a:xfrm>
          <a:prstGeom prst="rect">
            <a:avLst/>
          </a:prstGeom>
          <a:noFill/>
        </p:spPr>
        <p:txBody>
          <a:bodyPr wrap="square">
            <a:spAutoFit/>
          </a:bodyPr>
          <a:lstStyle/>
          <a:p>
            <a:pPr algn="l"/>
            <a:r>
              <a:rPr sz="800" b="1" i="1">
                <a:solidFill>
                  <a:srgbClr val="DC2626"/>
                </a:solidFill>
              </a:rPr>
              <a:t>Not shared</a:t>
            </a:r>
          </a:p>
        </p:txBody>
      </p:sp>
      <p:sp>
        <p:nvSpPr>
          <p:cNvPr id="16" name="TextBox 15"/>
          <p:cNvSpPr txBox="1"/>
          <p:nvPr/>
        </p:nvSpPr>
        <p:spPr>
          <a:xfrm>
            <a:off x="609447" y="5623560"/>
            <a:ext cx="10970056" cy="685800"/>
          </a:xfrm>
          <a:prstGeom prst="rect">
            <a:avLst/>
          </a:prstGeom>
          <a:noFill/>
        </p:spPr>
        <p:txBody>
          <a:bodyPr wrap="square">
            <a:spAutoFit/>
          </a:bodyPr>
          <a:lstStyle/>
          <a:p>
            <a:pPr algn="l"/>
            <a:r>
              <a:rPr sz="900" b="0" i="1">
                <a:solidFill>
                  <a:srgbClr val="666666"/>
                </a:solidFill>
              </a:rPr>
              <a:t>TWIN does not create new data. It creates the permissioned, verified channel through which existing data can be shared, on the terms of the organisation that owns it, with a distributed ledger as the trust anchor.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447" y="205740"/>
            <a:ext cx="4875580" cy="411480"/>
          </a:xfrm>
          <a:prstGeom prst="rect">
            <a:avLst/>
          </a:prstGeom>
          <a:noFill/>
        </p:spPr>
        <p:txBody>
          <a:bodyPr wrap="square">
            <a:spAutoFit/>
          </a:bodyPr>
          <a:lstStyle/>
          <a:p>
            <a:pPr algn="l"/>
            <a:r>
              <a:rPr sz="1400" b="1">
                <a:solidFill>
                  <a:srgbClr val="37326E"/>
                </a:solidFill>
              </a:rPr>
              <a:t>TWIN Vietnam</a:t>
            </a:r>
          </a:p>
        </p:txBody>
      </p:sp>
      <p:sp>
        <p:nvSpPr>
          <p:cNvPr id="3" name="TextBox 2"/>
          <p:cNvSpPr txBox="1"/>
          <p:nvPr/>
        </p:nvSpPr>
        <p:spPr>
          <a:xfrm>
            <a:off x="10360609" y="205740"/>
            <a:ext cx="1462674" cy="342900"/>
          </a:xfrm>
          <a:prstGeom prst="rect">
            <a:avLst/>
          </a:prstGeom>
          <a:noFill/>
        </p:spPr>
        <p:txBody>
          <a:bodyPr wrap="square">
            <a:spAutoFit/>
          </a:bodyPr>
          <a:lstStyle/>
          <a:p>
            <a:pPr algn="r"/>
            <a:r>
              <a:rPr sz="1100" b="0">
                <a:solidFill>
                  <a:srgbClr val="999999"/>
                </a:solidFill>
              </a:rPr>
              <a:t>02 / 06</a:t>
            </a:r>
          </a:p>
        </p:txBody>
      </p:sp>
      <p:sp>
        <p:nvSpPr>
          <p:cNvPr id="4" name="TextBox 3"/>
          <p:cNvSpPr txBox="1"/>
          <p:nvPr/>
        </p:nvSpPr>
        <p:spPr>
          <a:xfrm>
            <a:off x="609447" y="685800"/>
            <a:ext cx="10970056" cy="274320"/>
          </a:xfrm>
          <a:prstGeom prst="rect">
            <a:avLst/>
          </a:prstGeom>
          <a:noFill/>
        </p:spPr>
        <p:txBody>
          <a:bodyPr wrap="square">
            <a:spAutoFit/>
          </a:bodyPr>
          <a:lstStyle/>
          <a:p>
            <a:pPr algn="l"/>
            <a:r>
              <a:rPr sz="1000" b="1">
                <a:solidFill>
                  <a:srgbClr val="14B8A6"/>
                </a:solidFill>
              </a:rPr>
              <a:t>FRAMEWORK OVERVIEW</a:t>
            </a:r>
          </a:p>
        </p:txBody>
      </p:sp>
      <p:sp>
        <p:nvSpPr>
          <p:cNvPr id="5" name="TextBox 4"/>
          <p:cNvSpPr txBox="1"/>
          <p:nvPr/>
        </p:nvSpPr>
        <p:spPr>
          <a:xfrm>
            <a:off x="609447" y="960120"/>
            <a:ext cx="10970056" cy="685800"/>
          </a:xfrm>
          <a:prstGeom prst="rect">
            <a:avLst/>
          </a:prstGeom>
          <a:noFill/>
        </p:spPr>
        <p:txBody>
          <a:bodyPr wrap="square">
            <a:spAutoFit/>
          </a:bodyPr>
          <a:lstStyle/>
          <a:p>
            <a:pPr algn="l"/>
            <a:r>
              <a:rPr sz="1800" b="1">
                <a:solidFill>
                  <a:srgbClr val="37326E"/>
                </a:solidFill>
              </a:rPr>
              <a:t>TWIN is a framework, not a replacement
for what exists.</a:t>
            </a:r>
          </a:p>
        </p:txBody>
      </p:sp>
      <p:sp>
        <p:nvSpPr>
          <p:cNvPr id="6" name="TextBox 5"/>
          <p:cNvSpPr txBox="1"/>
          <p:nvPr/>
        </p:nvSpPr>
        <p:spPr>
          <a:xfrm>
            <a:off x="609447" y="1783080"/>
            <a:ext cx="10970056" cy="411480"/>
          </a:xfrm>
          <a:prstGeom prst="rect">
            <a:avLst/>
          </a:prstGeom>
          <a:noFill/>
        </p:spPr>
        <p:txBody>
          <a:bodyPr wrap="square">
            <a:spAutoFit/>
          </a:bodyPr>
          <a:lstStyle/>
          <a:p>
            <a:pPr algn="l"/>
            <a:r>
              <a:rPr sz="1000" b="0">
                <a:solidFill>
                  <a:srgbClr val="666666"/>
                </a:solidFill>
              </a:rPr>
              <a:t>TWIN (Trade Worldwide Information Network) is an open interoperability layer connecting governments, traders and financiers. Existing data flows securely between parties, with permission, with proof, and with full data sovereignty.</a:t>
            </a:r>
          </a:p>
        </p:txBody>
      </p:sp>
      <p:sp>
        <p:nvSpPr>
          <p:cNvPr id="7" name="TextBox 6"/>
          <p:cNvSpPr txBox="1"/>
          <p:nvPr/>
        </p:nvSpPr>
        <p:spPr>
          <a:xfrm>
            <a:off x="975116" y="2468880"/>
            <a:ext cx="3412906" cy="342900"/>
          </a:xfrm>
          <a:prstGeom prst="rect">
            <a:avLst/>
          </a:prstGeom>
          <a:noFill/>
        </p:spPr>
        <p:txBody>
          <a:bodyPr wrap="square">
            <a:spAutoFit/>
          </a:bodyPr>
          <a:lstStyle/>
          <a:p>
            <a:pPr algn="l"/>
            <a:r>
              <a:rPr sz="1300" b="1">
                <a:solidFill>
                  <a:srgbClr val="37326E"/>
                </a:solidFill>
              </a:rPr>
              <a:t>Government Systems Stay</a:t>
            </a:r>
          </a:p>
        </p:txBody>
      </p:sp>
      <p:sp>
        <p:nvSpPr>
          <p:cNvPr id="8" name="TextBox 7"/>
          <p:cNvSpPr txBox="1"/>
          <p:nvPr/>
        </p:nvSpPr>
        <p:spPr>
          <a:xfrm>
            <a:off x="975116" y="2811780"/>
            <a:ext cx="3412906" cy="1920240"/>
          </a:xfrm>
          <a:prstGeom prst="rect">
            <a:avLst/>
          </a:prstGeom>
          <a:noFill/>
        </p:spPr>
        <p:txBody>
          <a:bodyPr wrap="square">
            <a:spAutoFit/>
          </a:bodyPr>
          <a:lstStyle/>
          <a:p>
            <a:pPr algn="l"/>
            <a:r>
              <a:rPr sz="900" b="0">
                <a:solidFill>
                  <a:srgbClr val="333333"/>
                </a:solidFill>
              </a:rPr>
              <a:t>TWIN connects to national trade portals (eCoSys, VNACCS), customs systems and identity registries via API. Nothing is replaced. Data flows out of existing systems through a shared, permissioned layer.</a:t>
            </a:r>
          </a:p>
        </p:txBody>
      </p:sp>
      <p:sp>
        <p:nvSpPr>
          <p:cNvPr id="9" name="TextBox 8"/>
          <p:cNvSpPr txBox="1"/>
          <p:nvPr/>
        </p:nvSpPr>
        <p:spPr>
          <a:xfrm>
            <a:off x="975116" y="4800600"/>
            <a:ext cx="3412906" cy="274320"/>
          </a:xfrm>
          <a:prstGeom prst="rect">
            <a:avLst/>
          </a:prstGeom>
          <a:noFill/>
        </p:spPr>
        <p:txBody>
          <a:bodyPr wrap="square">
            <a:spAutoFit/>
          </a:bodyPr>
          <a:lstStyle/>
          <a:p>
            <a:pPr algn="l"/>
            <a:r>
              <a:rPr sz="800" b="1" i="1">
                <a:solidFill>
                  <a:srgbClr val="14B8A6"/>
                </a:solidFill>
              </a:rPr>
              <a:t>Non-disruptive</a:t>
            </a:r>
          </a:p>
        </p:txBody>
      </p:sp>
      <p:sp>
        <p:nvSpPr>
          <p:cNvPr id="10" name="TextBox 9"/>
          <p:cNvSpPr txBox="1"/>
          <p:nvPr/>
        </p:nvSpPr>
        <p:spPr>
          <a:xfrm>
            <a:off x="4388022" y="2468880"/>
            <a:ext cx="3412906" cy="342900"/>
          </a:xfrm>
          <a:prstGeom prst="rect">
            <a:avLst/>
          </a:prstGeom>
          <a:noFill/>
        </p:spPr>
        <p:txBody>
          <a:bodyPr wrap="square">
            <a:spAutoFit/>
          </a:bodyPr>
          <a:lstStyle/>
          <a:p>
            <a:pPr algn="l"/>
            <a:r>
              <a:rPr sz="1300" b="1">
                <a:solidFill>
                  <a:srgbClr val="37326E"/>
                </a:solidFill>
              </a:rPr>
              <a:t>Distributed Ledger as Trust Anchor</a:t>
            </a:r>
          </a:p>
        </p:txBody>
      </p:sp>
      <p:sp>
        <p:nvSpPr>
          <p:cNvPr id="11" name="TextBox 10"/>
          <p:cNvSpPr txBox="1"/>
          <p:nvPr/>
        </p:nvSpPr>
        <p:spPr>
          <a:xfrm>
            <a:off x="4388022" y="2811780"/>
            <a:ext cx="3412906" cy="1920240"/>
          </a:xfrm>
          <a:prstGeom prst="rect">
            <a:avLst/>
          </a:prstGeom>
          <a:noFill/>
        </p:spPr>
        <p:txBody>
          <a:bodyPr wrap="square">
            <a:spAutoFit/>
          </a:bodyPr>
          <a:lstStyle/>
          <a:p>
            <a:pPr algn="l"/>
            <a:r>
              <a:rPr sz="900" b="0">
                <a:solidFill>
                  <a:srgbClr val="333333"/>
                </a:solidFill>
              </a:rPr>
              <a:t>Every document, status change and transaction is anchored on a distributed ledger. This creates an immutable, tamper-evident audit trail shared only with parties who have been explicitly granted access.</a:t>
            </a:r>
          </a:p>
        </p:txBody>
      </p:sp>
      <p:sp>
        <p:nvSpPr>
          <p:cNvPr id="12" name="TextBox 11"/>
          <p:cNvSpPr txBox="1"/>
          <p:nvPr/>
        </p:nvSpPr>
        <p:spPr>
          <a:xfrm>
            <a:off x="4388022" y="4800600"/>
            <a:ext cx="3412906" cy="274320"/>
          </a:xfrm>
          <a:prstGeom prst="rect">
            <a:avLst/>
          </a:prstGeom>
          <a:noFill/>
        </p:spPr>
        <p:txBody>
          <a:bodyPr wrap="square">
            <a:spAutoFit/>
          </a:bodyPr>
          <a:lstStyle/>
          <a:p>
            <a:pPr algn="l"/>
            <a:r>
              <a:rPr sz="800" b="1" i="1">
                <a:solidFill>
                  <a:srgbClr val="14B8A6"/>
                </a:solidFill>
              </a:rPr>
              <a:t>Permissioned</a:t>
            </a:r>
          </a:p>
        </p:txBody>
      </p:sp>
      <p:sp>
        <p:nvSpPr>
          <p:cNvPr id="13" name="TextBox 12"/>
          <p:cNvSpPr txBox="1"/>
          <p:nvPr/>
        </p:nvSpPr>
        <p:spPr>
          <a:xfrm>
            <a:off x="7800928" y="2468880"/>
            <a:ext cx="3412906" cy="342900"/>
          </a:xfrm>
          <a:prstGeom prst="rect">
            <a:avLst/>
          </a:prstGeom>
          <a:noFill/>
        </p:spPr>
        <p:txBody>
          <a:bodyPr wrap="square">
            <a:spAutoFit/>
          </a:bodyPr>
          <a:lstStyle/>
          <a:p>
            <a:pPr algn="l"/>
            <a:r>
              <a:rPr sz="1300" b="1">
                <a:solidFill>
                  <a:srgbClr val="37326E"/>
                </a:solidFill>
              </a:rPr>
              <a:t>Node Sovereignty</a:t>
            </a:r>
          </a:p>
        </p:txBody>
      </p:sp>
      <p:sp>
        <p:nvSpPr>
          <p:cNvPr id="14" name="TextBox 13"/>
          <p:cNvSpPr txBox="1"/>
          <p:nvPr/>
        </p:nvSpPr>
        <p:spPr>
          <a:xfrm>
            <a:off x="7800928" y="2811780"/>
            <a:ext cx="3412906" cy="1920240"/>
          </a:xfrm>
          <a:prstGeom prst="rect">
            <a:avLst/>
          </a:prstGeom>
          <a:noFill/>
        </p:spPr>
        <p:txBody>
          <a:bodyPr wrap="square">
            <a:spAutoFit/>
          </a:bodyPr>
          <a:lstStyle/>
          <a:p>
            <a:pPr algn="l"/>
            <a:r>
              <a:rPr sz="900" b="0">
                <a:solidFill>
                  <a:srgbClr val="333333"/>
                </a:solidFill>
              </a:rPr>
              <a:t>Each participating country or institution runs its own node. Data never leaves a node without the owner's explicit permission. Sovereignty and data protection are built into the architecture.</a:t>
            </a:r>
          </a:p>
        </p:txBody>
      </p:sp>
      <p:sp>
        <p:nvSpPr>
          <p:cNvPr id="15" name="TextBox 14"/>
          <p:cNvSpPr txBox="1"/>
          <p:nvPr/>
        </p:nvSpPr>
        <p:spPr>
          <a:xfrm>
            <a:off x="7800928" y="4800600"/>
            <a:ext cx="3412906" cy="274320"/>
          </a:xfrm>
          <a:prstGeom prst="rect">
            <a:avLst/>
          </a:prstGeom>
          <a:noFill/>
        </p:spPr>
        <p:txBody>
          <a:bodyPr wrap="square">
            <a:spAutoFit/>
          </a:bodyPr>
          <a:lstStyle/>
          <a:p>
            <a:pPr algn="l"/>
            <a:r>
              <a:rPr sz="800" b="1" i="1">
                <a:solidFill>
                  <a:srgbClr val="14B8A6"/>
                </a:solidFill>
              </a:rPr>
              <a:t>Data sovereignty</a:t>
            </a:r>
          </a:p>
        </p:txBody>
      </p:sp>
      <p:sp>
        <p:nvSpPr>
          <p:cNvPr id="16" name="TextBox 15"/>
          <p:cNvSpPr txBox="1"/>
          <p:nvPr/>
        </p:nvSpPr>
        <p:spPr>
          <a:xfrm>
            <a:off x="609447" y="5623560"/>
            <a:ext cx="10970056" cy="685800"/>
          </a:xfrm>
          <a:prstGeom prst="rect">
            <a:avLst/>
          </a:prstGeom>
          <a:noFill/>
        </p:spPr>
        <p:txBody>
          <a:bodyPr wrap="square">
            <a:spAutoFit/>
          </a:bodyPr>
          <a:lstStyle/>
          <a:p>
            <a:pPr algn="l"/>
            <a:r>
              <a:rPr sz="900" b="0" i="1">
                <a:solidFill>
                  <a:srgbClr val="666666"/>
                </a:solidFill>
              </a:rPr>
              <a:t>In this demo: two nodes (Vietnam export corridor + destination importers) communicate in real time, sharing consignment data, documents and financial records only when permission is explicitly granted. Every action is anchored on the distributed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447" y="205740"/>
            <a:ext cx="10970056" cy="548640"/>
          </a:xfrm>
          <a:prstGeom prst="rect">
            <a:avLst/>
          </a:prstGeom>
          <a:noFill/>
        </p:spPr>
        <p:txBody>
          <a:bodyPr wrap="square">
            <a:spAutoFit/>
          </a:bodyPr>
          <a:lstStyle/>
          <a:p>
            <a:r>
              <a:rPr sz="1400" b="1">
                <a:solidFill>
                  <a:srgbClr val="37326E"/>
                </a:solidFill>
              </a:rPr>
              <a:t>TWIN Vietnam</a:t>
            </a:r>
          </a:p>
        </p:txBody>
      </p:sp>
      <p:sp>
        <p:nvSpPr>
          <p:cNvPr id="3" name="TextBox 2"/>
          <p:cNvSpPr txBox="1"/>
          <p:nvPr/>
        </p:nvSpPr>
        <p:spPr>
          <a:xfrm>
            <a:off x="10360609" y="205740"/>
            <a:ext cx="1462674" cy="342900"/>
          </a:xfrm>
          <a:prstGeom prst="rect">
            <a:avLst/>
          </a:prstGeom>
          <a:noFill/>
        </p:spPr>
        <p:txBody>
          <a:bodyPr wrap="none">
            <a:spAutoFit/>
          </a:bodyPr>
          <a:lstStyle/>
          <a:p>
            <a:r>
              <a:rPr sz="1100">
                <a:solidFill>
                  <a:srgbClr val="999999"/>
                </a:solidFill>
              </a:rPr>
              <a:t>03 / 06</a:t>
            </a:r>
          </a:p>
        </p:txBody>
      </p:sp>
      <p:sp>
        <p:nvSpPr>
          <p:cNvPr id="4" name="TextBox 3"/>
          <p:cNvSpPr txBox="1"/>
          <p:nvPr/>
        </p:nvSpPr>
        <p:spPr>
          <a:xfrm>
            <a:off x="609447" y="685800"/>
            <a:ext cx="10970056" cy="274320"/>
          </a:xfrm>
          <a:prstGeom prst="rect">
            <a:avLst/>
          </a:prstGeom>
          <a:noFill/>
        </p:spPr>
        <p:txBody>
          <a:bodyPr wrap="none">
            <a:spAutoFit/>
          </a:bodyPr>
          <a:lstStyle/>
          <a:p>
            <a:r>
              <a:rPr sz="1000" b="1">
                <a:solidFill>
                  <a:srgbClr val="14B8A6"/>
                </a:solidFill>
              </a:rPr>
              <a:t>VIETNAM EXPORT USER JOURNEY</a:t>
            </a:r>
          </a:p>
        </p:txBody>
      </p:sp>
      <p:sp>
        <p:nvSpPr>
          <p:cNvPr id="5" name="TextBox 4"/>
          <p:cNvSpPr txBox="1"/>
          <p:nvPr/>
        </p:nvSpPr>
        <p:spPr>
          <a:xfrm>
            <a:off x="609447" y="960120"/>
            <a:ext cx="10970056" cy="685800"/>
          </a:xfrm>
          <a:prstGeom prst="rect">
            <a:avLst/>
          </a:prstGeom>
          <a:noFill/>
        </p:spPr>
        <p:txBody>
          <a:bodyPr wrap="square">
            <a:spAutoFit/>
          </a:bodyPr>
          <a:lstStyle/>
          <a:p>
            <a:r>
              <a:rPr sz="1800" b="1">
                <a:solidFill>
                  <a:srgbClr val="37326E"/>
                </a:solidFill>
              </a:rPr>
              <a:t>From Korean fabric to US customs clearance.
Every step verified, every document anchored.</a:t>
            </a:r>
          </a:p>
        </p:txBody>
      </p:sp>
      <p:sp>
        <p:nvSpPr>
          <p:cNvPr id="6" name="TextBox 5"/>
          <p:cNvSpPr txBox="1"/>
          <p:nvPr/>
        </p:nvSpPr>
        <p:spPr>
          <a:xfrm>
            <a:off x="731337" y="1920240"/>
            <a:ext cx="1706453" cy="274320"/>
          </a:xfrm>
          <a:prstGeom prst="rect">
            <a:avLst/>
          </a:prstGeom>
          <a:noFill/>
        </p:spPr>
        <p:txBody>
          <a:bodyPr wrap="none">
            <a:spAutoFit/>
          </a:bodyPr>
          <a:lstStyle/>
          <a:p>
            <a:pPr algn="ctr"/>
            <a:r>
              <a:rPr sz="900" b="1">
                <a:solidFill>
                  <a:srgbClr val="14B8A6"/>
                </a:solidFill>
              </a:rPr>
              <a:t>Step 1</a:t>
            </a:r>
          </a:p>
        </p:txBody>
      </p:sp>
      <p:sp>
        <p:nvSpPr>
          <p:cNvPr id="7" name="TextBox 6"/>
          <p:cNvSpPr txBox="1"/>
          <p:nvPr/>
        </p:nvSpPr>
        <p:spPr>
          <a:xfrm>
            <a:off x="731337" y="2194560"/>
            <a:ext cx="1706453" cy="342900"/>
          </a:xfrm>
          <a:prstGeom prst="rect">
            <a:avLst/>
          </a:prstGeom>
          <a:noFill/>
        </p:spPr>
        <p:txBody>
          <a:bodyPr wrap="none">
            <a:spAutoFit/>
          </a:bodyPr>
          <a:lstStyle/>
          <a:p>
            <a:pPr algn="ctr"/>
            <a:r>
              <a:rPr sz="1100" b="1">
                <a:solidFill>
                  <a:srgbClr val="37326E"/>
                </a:solidFill>
              </a:rPr>
              <a:t>Raw Materials</a:t>
            </a:r>
          </a:p>
        </p:txBody>
      </p:sp>
      <p:sp>
        <p:nvSpPr>
          <p:cNvPr id="8" name="TextBox 7"/>
          <p:cNvSpPr txBox="1"/>
          <p:nvPr/>
        </p:nvSpPr>
        <p:spPr>
          <a:xfrm>
            <a:off x="731337" y="2606040"/>
            <a:ext cx="1706453" cy="1371600"/>
          </a:xfrm>
          <a:prstGeom prst="rect">
            <a:avLst/>
          </a:prstGeom>
          <a:noFill/>
        </p:spPr>
        <p:txBody>
          <a:bodyPr wrap="square">
            <a:spAutoFit/>
          </a:bodyPr>
          <a:lstStyle/>
          <a:p>
            <a:pPr algn="ctr"/>
            <a:r>
              <a:rPr sz="900">
                <a:solidFill>
                  <a:srgbClr val="333333"/>
                </a:solidFill>
              </a:rPr>
              <a:t>Korean CoO +
Commercial Invoice
(Inputs)</a:t>
            </a:r>
          </a:p>
        </p:txBody>
      </p:sp>
      <p:sp>
        <p:nvSpPr>
          <p:cNvPr id="9" name="TextBox 8"/>
          <p:cNvSpPr txBox="1"/>
          <p:nvPr/>
        </p:nvSpPr>
        <p:spPr>
          <a:xfrm>
            <a:off x="731337" y="4114800"/>
            <a:ext cx="1706453" cy="822960"/>
          </a:xfrm>
          <a:prstGeom prst="rect">
            <a:avLst/>
          </a:prstGeom>
          <a:noFill/>
        </p:spPr>
        <p:txBody>
          <a:bodyPr wrap="square">
            <a:spAutoFit/>
          </a:bodyPr>
          <a:lstStyle/>
          <a:p>
            <a:pPr algn="ctr"/>
            <a:r>
              <a:rPr sz="800" i="1">
                <a:solidFill>
                  <a:srgbClr val="666666"/>
                </a:solidFill>
              </a:rPr>
              <a:t>Hyosung TNS
(South Korea)</a:t>
            </a:r>
          </a:p>
        </p:txBody>
      </p:sp>
      <p:sp>
        <p:nvSpPr>
          <p:cNvPr id="10" name="TextBox 9"/>
          <p:cNvSpPr txBox="1"/>
          <p:nvPr/>
        </p:nvSpPr>
        <p:spPr>
          <a:xfrm>
            <a:off x="2462167" y="2743200"/>
            <a:ext cx="48755" cy="342900"/>
          </a:xfrm>
          <a:prstGeom prst="rect">
            <a:avLst/>
          </a:prstGeom>
          <a:noFill/>
        </p:spPr>
        <p:txBody>
          <a:bodyPr wrap="none">
            <a:spAutoFit/>
          </a:bodyPr>
          <a:lstStyle/>
          <a:p>
            <a:pPr algn="ctr"/>
            <a:r>
              <a:rPr sz="1600">
                <a:solidFill>
                  <a:srgbClr val="14B8A6"/>
                </a:solidFill>
              </a:rPr>
              <a:t>→</a:t>
            </a:r>
          </a:p>
        </p:txBody>
      </p:sp>
      <p:sp>
        <p:nvSpPr>
          <p:cNvPr id="11" name="TextBox 10"/>
          <p:cNvSpPr txBox="1"/>
          <p:nvPr/>
        </p:nvSpPr>
        <p:spPr>
          <a:xfrm>
            <a:off x="2535301" y="1920240"/>
            <a:ext cx="1706453" cy="274320"/>
          </a:xfrm>
          <a:prstGeom prst="rect">
            <a:avLst/>
          </a:prstGeom>
          <a:noFill/>
        </p:spPr>
        <p:txBody>
          <a:bodyPr wrap="none">
            <a:spAutoFit/>
          </a:bodyPr>
          <a:lstStyle/>
          <a:p>
            <a:pPr algn="ctr"/>
            <a:r>
              <a:rPr sz="900" b="1">
                <a:solidFill>
                  <a:srgbClr val="14B8A6"/>
                </a:solidFill>
              </a:rPr>
              <a:t>Step 2</a:t>
            </a:r>
          </a:p>
        </p:txBody>
      </p:sp>
      <p:sp>
        <p:nvSpPr>
          <p:cNvPr id="12" name="TextBox 11"/>
          <p:cNvSpPr txBox="1"/>
          <p:nvPr/>
        </p:nvSpPr>
        <p:spPr>
          <a:xfrm>
            <a:off x="2535301" y="2194560"/>
            <a:ext cx="1706453" cy="342900"/>
          </a:xfrm>
          <a:prstGeom prst="rect">
            <a:avLst/>
          </a:prstGeom>
          <a:noFill/>
        </p:spPr>
        <p:txBody>
          <a:bodyPr wrap="none">
            <a:spAutoFit/>
          </a:bodyPr>
          <a:lstStyle/>
          <a:p>
            <a:pPr algn="ctr"/>
            <a:r>
              <a:rPr sz="1100" b="1">
                <a:solidFill>
                  <a:srgbClr val="37326E"/>
                </a:solidFill>
              </a:rPr>
              <a:t>Production</a:t>
            </a:r>
          </a:p>
        </p:txBody>
      </p:sp>
      <p:sp>
        <p:nvSpPr>
          <p:cNvPr id="13" name="TextBox 12"/>
          <p:cNvSpPr txBox="1"/>
          <p:nvPr/>
        </p:nvSpPr>
        <p:spPr>
          <a:xfrm>
            <a:off x="2535301" y="2606040"/>
            <a:ext cx="1706453" cy="1371600"/>
          </a:xfrm>
          <a:prstGeom prst="rect">
            <a:avLst/>
          </a:prstGeom>
          <a:noFill/>
        </p:spPr>
        <p:txBody>
          <a:bodyPr wrap="square">
            <a:spAutoFit/>
          </a:bodyPr>
          <a:lstStyle/>
          <a:p>
            <a:pPr algn="ctr"/>
            <a:r>
              <a:rPr sz="900">
                <a:solidFill>
                  <a:srgbClr val="333333"/>
                </a:solidFill>
              </a:rPr>
              <a:t>Bill of Material
with origin
composition</a:t>
            </a:r>
          </a:p>
        </p:txBody>
      </p:sp>
      <p:sp>
        <p:nvSpPr>
          <p:cNvPr id="14" name="TextBox 13"/>
          <p:cNvSpPr txBox="1"/>
          <p:nvPr/>
        </p:nvSpPr>
        <p:spPr>
          <a:xfrm>
            <a:off x="2535301" y="4114800"/>
            <a:ext cx="1706453" cy="822960"/>
          </a:xfrm>
          <a:prstGeom prst="rect">
            <a:avLst/>
          </a:prstGeom>
          <a:noFill/>
        </p:spPr>
        <p:txBody>
          <a:bodyPr wrap="square">
            <a:spAutoFit/>
          </a:bodyPr>
          <a:lstStyle/>
          <a:p>
            <a:pPr algn="ctr"/>
            <a:r>
              <a:rPr sz="800" i="1">
                <a:solidFill>
                  <a:srgbClr val="666666"/>
                </a:solidFill>
              </a:rPr>
              <a:t>TNG (Vietnam)
65.5% VN content</a:t>
            </a:r>
          </a:p>
        </p:txBody>
      </p:sp>
      <p:sp>
        <p:nvSpPr>
          <p:cNvPr id="15" name="TextBox 14"/>
          <p:cNvSpPr txBox="1"/>
          <p:nvPr/>
        </p:nvSpPr>
        <p:spPr>
          <a:xfrm>
            <a:off x="4266131" y="2743200"/>
            <a:ext cx="48755" cy="342900"/>
          </a:xfrm>
          <a:prstGeom prst="rect">
            <a:avLst/>
          </a:prstGeom>
          <a:noFill/>
        </p:spPr>
        <p:txBody>
          <a:bodyPr wrap="none">
            <a:spAutoFit/>
          </a:bodyPr>
          <a:lstStyle/>
          <a:p>
            <a:pPr algn="ctr"/>
            <a:r>
              <a:rPr sz="1600">
                <a:solidFill>
                  <a:srgbClr val="14B8A6"/>
                </a:solidFill>
              </a:rPr>
              <a:t>→</a:t>
            </a:r>
          </a:p>
        </p:txBody>
      </p:sp>
      <p:sp>
        <p:nvSpPr>
          <p:cNvPr id="16" name="TextBox 15"/>
          <p:cNvSpPr txBox="1"/>
          <p:nvPr/>
        </p:nvSpPr>
        <p:spPr>
          <a:xfrm>
            <a:off x="4339265" y="1920240"/>
            <a:ext cx="1706453" cy="274320"/>
          </a:xfrm>
          <a:prstGeom prst="rect">
            <a:avLst/>
          </a:prstGeom>
          <a:noFill/>
        </p:spPr>
        <p:txBody>
          <a:bodyPr wrap="none">
            <a:spAutoFit/>
          </a:bodyPr>
          <a:lstStyle/>
          <a:p>
            <a:pPr algn="ctr"/>
            <a:r>
              <a:rPr sz="900" b="1">
                <a:solidFill>
                  <a:srgbClr val="14B8A6"/>
                </a:solidFill>
              </a:rPr>
              <a:t>Step 3</a:t>
            </a:r>
          </a:p>
        </p:txBody>
      </p:sp>
      <p:sp>
        <p:nvSpPr>
          <p:cNvPr id="17" name="TextBox 16"/>
          <p:cNvSpPr txBox="1"/>
          <p:nvPr/>
        </p:nvSpPr>
        <p:spPr>
          <a:xfrm>
            <a:off x="4339265" y="2194560"/>
            <a:ext cx="1706453" cy="342900"/>
          </a:xfrm>
          <a:prstGeom prst="rect">
            <a:avLst/>
          </a:prstGeom>
          <a:noFill/>
        </p:spPr>
        <p:txBody>
          <a:bodyPr wrap="none">
            <a:spAutoFit/>
          </a:bodyPr>
          <a:lstStyle/>
          <a:p>
            <a:pPr algn="ctr"/>
            <a:r>
              <a:rPr sz="1100" b="1">
                <a:solidFill>
                  <a:srgbClr val="37326E"/>
                </a:solidFill>
              </a:rPr>
              <a:t>Inspection</a:t>
            </a:r>
          </a:p>
        </p:txBody>
      </p:sp>
      <p:sp>
        <p:nvSpPr>
          <p:cNvPr id="18" name="TextBox 17"/>
          <p:cNvSpPr txBox="1"/>
          <p:nvPr/>
        </p:nvSpPr>
        <p:spPr>
          <a:xfrm>
            <a:off x="4339265" y="2606040"/>
            <a:ext cx="1706453" cy="1371600"/>
          </a:xfrm>
          <a:prstGeom prst="rect">
            <a:avLst/>
          </a:prstGeom>
          <a:noFill/>
        </p:spPr>
        <p:txBody>
          <a:bodyPr wrap="square">
            <a:spAutoFit/>
          </a:bodyPr>
          <a:lstStyle/>
          <a:p>
            <a:pPr algn="ctr"/>
            <a:r>
              <a:rPr sz="900">
                <a:solidFill>
                  <a:srgbClr val="333333"/>
                </a:solidFill>
              </a:rPr>
              <a:t>Quality
Inspection
Report</a:t>
            </a:r>
          </a:p>
        </p:txBody>
      </p:sp>
      <p:sp>
        <p:nvSpPr>
          <p:cNvPr id="19" name="TextBox 18"/>
          <p:cNvSpPr txBox="1"/>
          <p:nvPr/>
        </p:nvSpPr>
        <p:spPr>
          <a:xfrm>
            <a:off x="4339265" y="4114800"/>
            <a:ext cx="1706453" cy="822960"/>
          </a:xfrm>
          <a:prstGeom prst="rect">
            <a:avLst/>
          </a:prstGeom>
          <a:noFill/>
        </p:spPr>
        <p:txBody>
          <a:bodyPr wrap="square">
            <a:spAutoFit/>
          </a:bodyPr>
          <a:lstStyle/>
          <a:p>
            <a:pPr algn="ctr"/>
            <a:r>
              <a:rPr sz="800" i="1">
                <a:solidFill>
                  <a:srgbClr val="666666"/>
                </a:solidFill>
              </a:rPr>
              <a:t>Bureau Veritas
Vietnam</a:t>
            </a:r>
          </a:p>
        </p:txBody>
      </p:sp>
      <p:sp>
        <p:nvSpPr>
          <p:cNvPr id="20" name="TextBox 19"/>
          <p:cNvSpPr txBox="1"/>
          <p:nvPr/>
        </p:nvSpPr>
        <p:spPr>
          <a:xfrm>
            <a:off x="6070095" y="2743200"/>
            <a:ext cx="48755" cy="342900"/>
          </a:xfrm>
          <a:prstGeom prst="rect">
            <a:avLst/>
          </a:prstGeom>
          <a:noFill/>
        </p:spPr>
        <p:txBody>
          <a:bodyPr wrap="none">
            <a:spAutoFit/>
          </a:bodyPr>
          <a:lstStyle/>
          <a:p>
            <a:pPr algn="ctr"/>
            <a:r>
              <a:rPr sz="1600">
                <a:solidFill>
                  <a:srgbClr val="14B8A6"/>
                </a:solidFill>
              </a:rPr>
              <a:t>→</a:t>
            </a:r>
          </a:p>
        </p:txBody>
      </p:sp>
      <p:sp>
        <p:nvSpPr>
          <p:cNvPr id="21" name="TextBox 20"/>
          <p:cNvSpPr txBox="1"/>
          <p:nvPr/>
        </p:nvSpPr>
        <p:spPr>
          <a:xfrm>
            <a:off x="6143229" y="1920240"/>
            <a:ext cx="1706453" cy="274320"/>
          </a:xfrm>
          <a:prstGeom prst="rect">
            <a:avLst/>
          </a:prstGeom>
          <a:noFill/>
        </p:spPr>
        <p:txBody>
          <a:bodyPr wrap="none">
            <a:spAutoFit/>
          </a:bodyPr>
          <a:lstStyle/>
          <a:p>
            <a:pPr algn="ctr"/>
            <a:r>
              <a:rPr sz="900" b="1">
                <a:solidFill>
                  <a:srgbClr val="14B8A6"/>
                </a:solidFill>
              </a:rPr>
              <a:t>Step 4</a:t>
            </a:r>
          </a:p>
        </p:txBody>
      </p:sp>
      <p:sp>
        <p:nvSpPr>
          <p:cNvPr id="22" name="TextBox 21"/>
          <p:cNvSpPr txBox="1"/>
          <p:nvPr/>
        </p:nvSpPr>
        <p:spPr>
          <a:xfrm>
            <a:off x="6143229" y="2194560"/>
            <a:ext cx="1706453" cy="342900"/>
          </a:xfrm>
          <a:prstGeom prst="rect">
            <a:avLst/>
          </a:prstGeom>
          <a:noFill/>
        </p:spPr>
        <p:txBody>
          <a:bodyPr wrap="none">
            <a:spAutoFit/>
          </a:bodyPr>
          <a:lstStyle/>
          <a:p>
            <a:pPr algn="ctr"/>
            <a:r>
              <a:rPr sz="1100" b="1">
                <a:solidFill>
                  <a:srgbClr val="37326E"/>
                </a:solidFill>
              </a:rPr>
              <a:t>Documentation</a:t>
            </a:r>
          </a:p>
        </p:txBody>
      </p:sp>
      <p:sp>
        <p:nvSpPr>
          <p:cNvPr id="23" name="TextBox 22"/>
          <p:cNvSpPr txBox="1"/>
          <p:nvPr/>
        </p:nvSpPr>
        <p:spPr>
          <a:xfrm>
            <a:off x="6143229" y="2606040"/>
            <a:ext cx="1706453" cy="1371600"/>
          </a:xfrm>
          <a:prstGeom prst="rect">
            <a:avLst/>
          </a:prstGeom>
          <a:noFill/>
        </p:spPr>
        <p:txBody>
          <a:bodyPr wrap="square">
            <a:spAutoFit/>
          </a:bodyPr>
          <a:lstStyle/>
          <a:p>
            <a:pPr algn="ctr"/>
            <a:r>
              <a:rPr sz="900">
                <a:solidFill>
                  <a:srgbClr val="333333"/>
                </a:solidFill>
              </a:rPr>
              <a:t>MOIT CoO +
Export Declaration
+ Invoice + Packing</a:t>
            </a:r>
          </a:p>
        </p:txBody>
      </p:sp>
      <p:sp>
        <p:nvSpPr>
          <p:cNvPr id="24" name="TextBox 23"/>
          <p:cNvSpPr txBox="1"/>
          <p:nvPr/>
        </p:nvSpPr>
        <p:spPr>
          <a:xfrm>
            <a:off x="6143229" y="4114800"/>
            <a:ext cx="1706453" cy="822960"/>
          </a:xfrm>
          <a:prstGeom prst="rect">
            <a:avLst/>
          </a:prstGeom>
          <a:noFill/>
        </p:spPr>
        <p:txBody>
          <a:bodyPr wrap="square">
            <a:spAutoFit/>
          </a:bodyPr>
          <a:lstStyle/>
          <a:p>
            <a:pPr algn="ctr"/>
            <a:r>
              <a:rPr sz="800" i="1">
                <a:solidFill>
                  <a:srgbClr val="666666"/>
                </a:solidFill>
              </a:rPr>
              <a:t>MOIT + TNG
+ Gemadept</a:t>
            </a:r>
          </a:p>
        </p:txBody>
      </p:sp>
      <p:sp>
        <p:nvSpPr>
          <p:cNvPr id="25" name="TextBox 24"/>
          <p:cNvSpPr txBox="1"/>
          <p:nvPr/>
        </p:nvSpPr>
        <p:spPr>
          <a:xfrm>
            <a:off x="7874059" y="2743200"/>
            <a:ext cx="48755" cy="342900"/>
          </a:xfrm>
          <a:prstGeom prst="rect">
            <a:avLst/>
          </a:prstGeom>
          <a:noFill/>
        </p:spPr>
        <p:txBody>
          <a:bodyPr wrap="none">
            <a:spAutoFit/>
          </a:bodyPr>
          <a:lstStyle/>
          <a:p>
            <a:pPr algn="ctr"/>
            <a:r>
              <a:rPr sz="1600">
                <a:solidFill>
                  <a:srgbClr val="14B8A6"/>
                </a:solidFill>
              </a:rPr>
              <a:t>→</a:t>
            </a:r>
          </a:p>
        </p:txBody>
      </p:sp>
      <p:sp>
        <p:nvSpPr>
          <p:cNvPr id="26" name="TextBox 25"/>
          <p:cNvSpPr txBox="1"/>
          <p:nvPr/>
        </p:nvSpPr>
        <p:spPr>
          <a:xfrm>
            <a:off x="7947193" y="1920240"/>
            <a:ext cx="1706453" cy="274320"/>
          </a:xfrm>
          <a:prstGeom prst="rect">
            <a:avLst/>
          </a:prstGeom>
          <a:noFill/>
        </p:spPr>
        <p:txBody>
          <a:bodyPr wrap="none">
            <a:spAutoFit/>
          </a:bodyPr>
          <a:lstStyle/>
          <a:p>
            <a:pPr algn="ctr"/>
            <a:r>
              <a:rPr sz="900" b="1">
                <a:solidFill>
                  <a:srgbClr val="14B8A6"/>
                </a:solidFill>
              </a:rPr>
              <a:t>Step 5</a:t>
            </a:r>
          </a:p>
        </p:txBody>
      </p:sp>
      <p:sp>
        <p:nvSpPr>
          <p:cNvPr id="27" name="TextBox 26"/>
          <p:cNvSpPr txBox="1"/>
          <p:nvPr/>
        </p:nvSpPr>
        <p:spPr>
          <a:xfrm>
            <a:off x="7947193" y="2194560"/>
            <a:ext cx="1706453" cy="342900"/>
          </a:xfrm>
          <a:prstGeom prst="rect">
            <a:avLst/>
          </a:prstGeom>
          <a:noFill/>
        </p:spPr>
        <p:txBody>
          <a:bodyPr wrap="none">
            <a:spAutoFit/>
          </a:bodyPr>
          <a:lstStyle/>
          <a:p>
            <a:pPr algn="ctr"/>
            <a:r>
              <a:rPr sz="1100" b="1">
                <a:solidFill>
                  <a:srgbClr val="37326E"/>
                </a:solidFill>
              </a:rPr>
              <a:t>Departure</a:t>
            </a:r>
          </a:p>
        </p:txBody>
      </p:sp>
      <p:sp>
        <p:nvSpPr>
          <p:cNvPr id="28" name="TextBox 27"/>
          <p:cNvSpPr txBox="1"/>
          <p:nvPr/>
        </p:nvSpPr>
        <p:spPr>
          <a:xfrm>
            <a:off x="7947193" y="2606040"/>
            <a:ext cx="1706453" cy="1371600"/>
          </a:xfrm>
          <a:prstGeom prst="rect">
            <a:avLst/>
          </a:prstGeom>
          <a:noFill/>
        </p:spPr>
        <p:txBody>
          <a:bodyPr wrap="square">
            <a:spAutoFit/>
          </a:bodyPr>
          <a:lstStyle/>
          <a:p>
            <a:pPr algn="ctr"/>
            <a:r>
              <a:rPr sz="900">
                <a:solidFill>
                  <a:srgbClr val="333333"/>
                </a:solidFill>
              </a:rPr>
              <a:t>Export clearance
+ Bill of Lading
+ Port events</a:t>
            </a:r>
          </a:p>
        </p:txBody>
      </p:sp>
      <p:sp>
        <p:nvSpPr>
          <p:cNvPr id="29" name="TextBox 28"/>
          <p:cNvSpPr txBox="1"/>
          <p:nvPr/>
        </p:nvSpPr>
        <p:spPr>
          <a:xfrm>
            <a:off x="7947193" y="4114800"/>
            <a:ext cx="1706453" cy="822960"/>
          </a:xfrm>
          <a:prstGeom prst="rect">
            <a:avLst/>
          </a:prstGeom>
          <a:noFill/>
        </p:spPr>
        <p:txBody>
          <a:bodyPr wrap="square">
            <a:spAutoFit/>
          </a:bodyPr>
          <a:lstStyle/>
          <a:p>
            <a:pPr algn="ctr"/>
            <a:r>
              <a:rPr sz="800" i="1">
                <a:solidFill>
                  <a:srgbClr val="666666"/>
                </a:solidFill>
              </a:rPr>
              <a:t>Customs + Maersk
+ Cat Lai Port</a:t>
            </a:r>
          </a:p>
        </p:txBody>
      </p:sp>
      <p:sp>
        <p:nvSpPr>
          <p:cNvPr id="30" name="TextBox 29"/>
          <p:cNvSpPr txBox="1"/>
          <p:nvPr/>
        </p:nvSpPr>
        <p:spPr>
          <a:xfrm>
            <a:off x="9678023" y="2743200"/>
            <a:ext cx="48755" cy="342900"/>
          </a:xfrm>
          <a:prstGeom prst="rect">
            <a:avLst/>
          </a:prstGeom>
          <a:noFill/>
        </p:spPr>
        <p:txBody>
          <a:bodyPr wrap="none">
            <a:spAutoFit/>
          </a:bodyPr>
          <a:lstStyle/>
          <a:p>
            <a:pPr algn="ctr"/>
            <a:r>
              <a:rPr sz="1600">
                <a:solidFill>
                  <a:srgbClr val="14B8A6"/>
                </a:solidFill>
              </a:rPr>
              <a:t>→</a:t>
            </a:r>
          </a:p>
        </p:txBody>
      </p:sp>
      <p:sp>
        <p:nvSpPr>
          <p:cNvPr id="31" name="TextBox 30"/>
          <p:cNvSpPr txBox="1"/>
          <p:nvPr/>
        </p:nvSpPr>
        <p:spPr>
          <a:xfrm>
            <a:off x="9751157" y="1920240"/>
            <a:ext cx="1706453" cy="274320"/>
          </a:xfrm>
          <a:prstGeom prst="rect">
            <a:avLst/>
          </a:prstGeom>
          <a:noFill/>
        </p:spPr>
        <p:txBody>
          <a:bodyPr wrap="none">
            <a:spAutoFit/>
          </a:bodyPr>
          <a:lstStyle/>
          <a:p>
            <a:pPr algn="ctr"/>
            <a:r>
              <a:rPr sz="900" b="1">
                <a:solidFill>
                  <a:srgbClr val="14B8A6"/>
                </a:solidFill>
              </a:rPr>
              <a:t>Step 6</a:t>
            </a:r>
          </a:p>
        </p:txBody>
      </p:sp>
      <p:sp>
        <p:nvSpPr>
          <p:cNvPr id="32" name="TextBox 31"/>
          <p:cNvSpPr txBox="1"/>
          <p:nvPr/>
        </p:nvSpPr>
        <p:spPr>
          <a:xfrm>
            <a:off x="9751157" y="2194560"/>
            <a:ext cx="1706453" cy="342900"/>
          </a:xfrm>
          <a:prstGeom prst="rect">
            <a:avLst/>
          </a:prstGeom>
          <a:noFill/>
        </p:spPr>
        <p:txBody>
          <a:bodyPr wrap="none">
            <a:spAutoFit/>
          </a:bodyPr>
          <a:lstStyle/>
          <a:p>
            <a:pPr algn="ctr"/>
            <a:r>
              <a:rPr sz="1100" b="1">
                <a:solidFill>
                  <a:srgbClr val="37326E"/>
                </a:solidFill>
              </a:rPr>
              <a:t>Verification</a:t>
            </a:r>
          </a:p>
        </p:txBody>
      </p:sp>
      <p:sp>
        <p:nvSpPr>
          <p:cNvPr id="33" name="TextBox 32"/>
          <p:cNvSpPr txBox="1"/>
          <p:nvPr/>
        </p:nvSpPr>
        <p:spPr>
          <a:xfrm>
            <a:off x="9751157" y="2606040"/>
            <a:ext cx="1706453" cy="1371600"/>
          </a:xfrm>
          <a:prstGeom prst="rect">
            <a:avLst/>
          </a:prstGeom>
          <a:noFill/>
        </p:spPr>
        <p:txBody>
          <a:bodyPr wrap="square">
            <a:spAutoFit/>
          </a:bodyPr>
          <a:lstStyle/>
          <a:p>
            <a:pPr algn="ctr"/>
            <a:r>
              <a:rPr sz="900">
                <a:solidFill>
                  <a:srgbClr val="333333"/>
                </a:solidFill>
              </a:rPr>
              <a:t>CBP origin
verification
(destination)</a:t>
            </a:r>
          </a:p>
        </p:txBody>
      </p:sp>
      <p:sp>
        <p:nvSpPr>
          <p:cNvPr id="34" name="TextBox 33"/>
          <p:cNvSpPr txBox="1"/>
          <p:nvPr/>
        </p:nvSpPr>
        <p:spPr>
          <a:xfrm>
            <a:off x="9751157" y="4114800"/>
            <a:ext cx="1706453" cy="822960"/>
          </a:xfrm>
          <a:prstGeom prst="rect">
            <a:avLst/>
          </a:prstGeom>
          <a:noFill/>
        </p:spPr>
        <p:txBody>
          <a:bodyPr wrap="square">
            <a:spAutoFit/>
          </a:bodyPr>
          <a:lstStyle/>
          <a:p>
            <a:pPr algn="ctr"/>
            <a:r>
              <a:rPr sz="800" i="1">
                <a:solidFill>
                  <a:srgbClr val="666666"/>
                </a:solidFill>
              </a:rPr>
              <a:t>US CBP / EU
Customs</a:t>
            </a:r>
          </a:p>
        </p:txBody>
      </p:sp>
      <p:sp>
        <p:nvSpPr>
          <p:cNvPr id="35" name="TextBox 34"/>
          <p:cNvSpPr txBox="1"/>
          <p:nvPr/>
        </p:nvSpPr>
        <p:spPr>
          <a:xfrm>
            <a:off x="3047238" y="5074920"/>
            <a:ext cx="6094476" cy="411480"/>
          </a:xfrm>
          <a:prstGeom prst="rect">
            <a:avLst/>
          </a:prstGeom>
          <a:noFill/>
        </p:spPr>
        <p:txBody>
          <a:bodyPr wrap="square">
            <a:spAutoFit/>
          </a:bodyPr>
          <a:lstStyle/>
          <a:p>
            <a:pPr algn="ctr"/>
            <a:r>
              <a:rPr sz="900" b="1">
                <a:solidFill>
                  <a:srgbClr val="37326E"/>
                </a:solidFill>
              </a:rPr>
              <a:t>Cross-border P2P share: TNG shares verified dossier to Nike + US CBP via TWIN network</a:t>
            </a:r>
          </a:p>
        </p:txBody>
      </p:sp>
      <p:sp>
        <p:nvSpPr>
          <p:cNvPr id="36" name="TextBox 35"/>
          <p:cNvSpPr txBox="1"/>
          <p:nvPr/>
        </p:nvSpPr>
        <p:spPr>
          <a:xfrm>
            <a:off x="609447" y="6035040"/>
            <a:ext cx="10970056" cy="548640"/>
          </a:xfrm>
          <a:prstGeom prst="rect">
            <a:avLst/>
          </a:prstGeom>
          <a:noFill/>
        </p:spPr>
        <p:txBody>
          <a:bodyPr wrap="square">
            <a:spAutoFit/>
          </a:bodyPr>
          <a:lstStyle/>
          <a:p>
            <a:r>
              <a:rPr sz="900" i="1">
                <a:solidFill>
                  <a:srgbClr val="666666"/>
                </a:solidFill>
              </a:rPr>
              <a:t>Every document is anchored on the distributed ledger with a cryptographic hash. The destination party receives a tamper-proof, verified digital dossier, replacing weeks of manual document exchange.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447" y="205740"/>
            <a:ext cx="4875580" cy="411480"/>
          </a:xfrm>
          <a:prstGeom prst="rect">
            <a:avLst/>
          </a:prstGeom>
          <a:noFill/>
        </p:spPr>
        <p:txBody>
          <a:bodyPr wrap="square">
            <a:spAutoFit/>
          </a:bodyPr>
          <a:lstStyle/>
          <a:p>
            <a:pPr algn="l"/>
            <a:r>
              <a:rPr sz="1400" b="1">
                <a:solidFill>
                  <a:srgbClr val="37326E"/>
                </a:solidFill>
              </a:rPr>
              <a:t>TWIN Vietnam</a:t>
            </a:r>
          </a:p>
        </p:txBody>
      </p:sp>
      <p:sp>
        <p:nvSpPr>
          <p:cNvPr id="3" name="TextBox 2"/>
          <p:cNvSpPr txBox="1"/>
          <p:nvPr/>
        </p:nvSpPr>
        <p:spPr>
          <a:xfrm>
            <a:off x="10360609" y="205740"/>
            <a:ext cx="1462674" cy="342900"/>
          </a:xfrm>
          <a:prstGeom prst="rect">
            <a:avLst/>
          </a:prstGeom>
          <a:noFill/>
        </p:spPr>
        <p:txBody>
          <a:bodyPr wrap="square">
            <a:spAutoFit/>
          </a:bodyPr>
          <a:lstStyle/>
          <a:p>
            <a:pPr algn="r"/>
            <a:r>
              <a:rPr sz="1100" b="0">
                <a:solidFill>
                  <a:srgbClr val="999999"/>
                </a:solidFill>
              </a:rPr>
              <a:t>04 / 06</a:t>
            </a:r>
          </a:p>
        </p:txBody>
      </p:sp>
      <p:sp>
        <p:nvSpPr>
          <p:cNvPr id="4" name="TextBox 3"/>
          <p:cNvSpPr txBox="1"/>
          <p:nvPr/>
        </p:nvSpPr>
        <p:spPr>
          <a:xfrm>
            <a:off x="609447" y="685800"/>
            <a:ext cx="10970056" cy="274320"/>
          </a:xfrm>
          <a:prstGeom prst="rect">
            <a:avLst/>
          </a:prstGeom>
          <a:noFill/>
        </p:spPr>
        <p:txBody>
          <a:bodyPr wrap="square">
            <a:spAutoFit/>
          </a:bodyPr>
          <a:lstStyle/>
          <a:p>
            <a:pPr algn="l"/>
            <a:r>
              <a:rPr sz="1000" b="1">
                <a:solidFill>
                  <a:srgbClr val="14B8A6"/>
                </a:solidFill>
              </a:rPr>
              <a:t>IDENTITY / DOCUMENTS / LEDGER</a:t>
            </a:r>
          </a:p>
        </p:txBody>
      </p:sp>
      <p:sp>
        <p:nvSpPr>
          <p:cNvPr id="5" name="TextBox 4"/>
          <p:cNvSpPr txBox="1"/>
          <p:nvPr/>
        </p:nvSpPr>
        <p:spPr>
          <a:xfrm>
            <a:off x="609447" y="960120"/>
            <a:ext cx="10970056" cy="685800"/>
          </a:xfrm>
          <a:prstGeom prst="rect">
            <a:avLst/>
          </a:prstGeom>
          <a:noFill/>
        </p:spPr>
        <p:txBody>
          <a:bodyPr wrap="square">
            <a:spAutoFit/>
          </a:bodyPr>
          <a:lstStyle/>
          <a:p>
            <a:pPr algn="l"/>
            <a:r>
              <a:rPr sz="1800" b="1">
                <a:solidFill>
                  <a:srgbClr val="37326E"/>
                </a:solidFill>
              </a:rPr>
              <a:t>Trust begins with verified identity
and government-issued data.</a:t>
            </a:r>
          </a:p>
        </p:txBody>
      </p:sp>
      <p:sp>
        <p:nvSpPr>
          <p:cNvPr id="6" name="TextBox 5"/>
          <p:cNvSpPr txBox="1"/>
          <p:nvPr/>
        </p:nvSpPr>
        <p:spPr>
          <a:xfrm>
            <a:off x="975116" y="2331720"/>
            <a:ext cx="3412906" cy="342900"/>
          </a:xfrm>
          <a:prstGeom prst="rect">
            <a:avLst/>
          </a:prstGeom>
          <a:noFill/>
        </p:spPr>
        <p:txBody>
          <a:bodyPr wrap="square">
            <a:spAutoFit/>
          </a:bodyPr>
          <a:lstStyle/>
          <a:p>
            <a:pPr algn="l"/>
            <a:r>
              <a:rPr sz="1300" b="1">
                <a:solidFill>
                  <a:srgbClr val="37326E"/>
                </a:solidFill>
              </a:rPr>
              <a:t>Identity Interoperability</a:t>
            </a:r>
          </a:p>
        </p:txBody>
      </p:sp>
      <p:sp>
        <p:nvSpPr>
          <p:cNvPr id="7" name="TextBox 6"/>
          <p:cNvSpPr txBox="1"/>
          <p:nvPr/>
        </p:nvSpPr>
        <p:spPr>
          <a:xfrm>
            <a:off x="975116" y="2674620"/>
            <a:ext cx="3412906" cy="2194560"/>
          </a:xfrm>
          <a:prstGeom prst="rect">
            <a:avLst/>
          </a:prstGeom>
          <a:noFill/>
        </p:spPr>
        <p:txBody>
          <a:bodyPr wrap="square">
            <a:spAutoFit/>
          </a:bodyPr>
          <a:lstStyle/>
          <a:p>
            <a:pPr algn="l"/>
            <a:r>
              <a:rPr sz="900" b="0">
                <a:solidFill>
                  <a:srgbClr val="333333"/>
                </a:solidFill>
              </a:rPr>
              <a:t>Each organisation registers with a national credential (MST, KBN, EIN, EORI). TWIN validates against the national registry and issues a Decentralised Identifier (DID) anchored on the ledger.
A US buyer's identity can be cryptographically verified by a Vietnamese manufacturer without any shared intermediary system.</a:t>
            </a:r>
          </a:p>
        </p:txBody>
      </p:sp>
      <p:sp>
        <p:nvSpPr>
          <p:cNvPr id="8" name="TextBox 7"/>
          <p:cNvSpPr txBox="1"/>
          <p:nvPr/>
        </p:nvSpPr>
        <p:spPr>
          <a:xfrm>
            <a:off x="975116" y="4937760"/>
            <a:ext cx="3412906" cy="274320"/>
          </a:xfrm>
          <a:prstGeom prst="rect">
            <a:avLst/>
          </a:prstGeom>
          <a:noFill/>
        </p:spPr>
        <p:txBody>
          <a:bodyPr wrap="square">
            <a:spAutoFit/>
          </a:bodyPr>
          <a:lstStyle/>
          <a:p>
            <a:pPr algn="l"/>
            <a:r>
              <a:rPr sz="800" b="1" i="1">
                <a:solidFill>
                  <a:srgbClr val="14B8A6"/>
                </a:solidFill>
              </a:rPr>
              <a:t>Verified / DID on ledger</a:t>
            </a:r>
          </a:p>
        </p:txBody>
      </p:sp>
      <p:sp>
        <p:nvSpPr>
          <p:cNvPr id="9" name="TextBox 8"/>
          <p:cNvSpPr txBox="1"/>
          <p:nvPr/>
        </p:nvSpPr>
        <p:spPr>
          <a:xfrm>
            <a:off x="4388022" y="2331720"/>
            <a:ext cx="3412906" cy="342900"/>
          </a:xfrm>
          <a:prstGeom prst="rect">
            <a:avLst/>
          </a:prstGeom>
          <a:noFill/>
        </p:spPr>
        <p:txBody>
          <a:bodyPr wrap="square">
            <a:spAutoFit/>
          </a:bodyPr>
          <a:lstStyle/>
          <a:p>
            <a:pPr algn="l"/>
            <a:r>
              <a:rPr sz="1300" b="1">
                <a:solidFill>
                  <a:srgbClr val="37326E"/>
                </a:solidFill>
              </a:rPr>
              <a:t>Documents from Government APIs</a:t>
            </a:r>
          </a:p>
        </p:txBody>
      </p:sp>
      <p:sp>
        <p:nvSpPr>
          <p:cNvPr id="10" name="TextBox 9"/>
          <p:cNvSpPr txBox="1"/>
          <p:nvPr/>
        </p:nvSpPr>
        <p:spPr>
          <a:xfrm>
            <a:off x="4388022" y="2674620"/>
            <a:ext cx="3412906" cy="2194560"/>
          </a:xfrm>
          <a:prstGeom prst="rect">
            <a:avLst/>
          </a:prstGeom>
          <a:noFill/>
        </p:spPr>
        <p:txBody>
          <a:bodyPr wrap="square">
            <a:spAutoFit/>
          </a:bodyPr>
          <a:lstStyle/>
          <a:p>
            <a:pPr algn="l"/>
            <a:r>
              <a:rPr sz="900" b="0">
                <a:solidFill>
                  <a:srgbClr val="333333"/>
                </a:solidFill>
              </a:rPr>
              <a:t>Export Declarations, Certificates of Origin and Customs Clearances are pulled directly from government systems via API (MOIT eCoSys, VNACCS, Korea Customs Service) and attached to the consignment's digital twin.
TWIN is a conduit, not a repository.</a:t>
            </a:r>
          </a:p>
        </p:txBody>
      </p:sp>
      <p:sp>
        <p:nvSpPr>
          <p:cNvPr id="11" name="TextBox 10"/>
          <p:cNvSpPr txBox="1"/>
          <p:nvPr/>
        </p:nvSpPr>
        <p:spPr>
          <a:xfrm>
            <a:off x="4388022" y="4937760"/>
            <a:ext cx="3412906" cy="274320"/>
          </a:xfrm>
          <a:prstGeom prst="rect">
            <a:avLst/>
          </a:prstGeom>
          <a:noFill/>
        </p:spPr>
        <p:txBody>
          <a:bodyPr wrap="square">
            <a:spAutoFit/>
          </a:bodyPr>
          <a:lstStyle/>
          <a:p>
            <a:pPr algn="l"/>
            <a:r>
              <a:rPr sz="800" b="1" i="1">
                <a:solidFill>
                  <a:srgbClr val="14B8A6"/>
                </a:solidFill>
              </a:rPr>
              <a:t>API-native / Source-verified</a:t>
            </a:r>
          </a:p>
        </p:txBody>
      </p:sp>
      <p:sp>
        <p:nvSpPr>
          <p:cNvPr id="12" name="TextBox 11"/>
          <p:cNvSpPr txBox="1"/>
          <p:nvPr/>
        </p:nvSpPr>
        <p:spPr>
          <a:xfrm>
            <a:off x="7800928" y="2331720"/>
            <a:ext cx="3412906" cy="342900"/>
          </a:xfrm>
          <a:prstGeom prst="rect">
            <a:avLst/>
          </a:prstGeom>
          <a:noFill/>
        </p:spPr>
        <p:txBody>
          <a:bodyPr wrap="square">
            <a:spAutoFit/>
          </a:bodyPr>
          <a:lstStyle/>
          <a:p>
            <a:pPr algn="l"/>
            <a:r>
              <a:rPr sz="1300" b="1">
                <a:solidFill>
                  <a:srgbClr val="37326E"/>
                </a:solidFill>
              </a:rPr>
              <a:t>Distributed Ledger: The Trust Layer</a:t>
            </a:r>
          </a:p>
        </p:txBody>
      </p:sp>
      <p:sp>
        <p:nvSpPr>
          <p:cNvPr id="13" name="TextBox 12"/>
          <p:cNvSpPr txBox="1"/>
          <p:nvPr/>
        </p:nvSpPr>
        <p:spPr>
          <a:xfrm>
            <a:off x="7800928" y="2674620"/>
            <a:ext cx="3412906" cy="2194560"/>
          </a:xfrm>
          <a:prstGeom prst="rect">
            <a:avLst/>
          </a:prstGeom>
          <a:noFill/>
        </p:spPr>
        <p:txBody>
          <a:bodyPr wrap="square">
            <a:spAutoFit/>
          </a:bodyPr>
          <a:lstStyle/>
          <a:p>
            <a:pPr algn="l"/>
            <a:r>
              <a:rPr sz="900" b="0">
                <a:solidFill>
                  <a:srgbClr val="333333"/>
                </a:solidFill>
              </a:rPr>
              <a:t>The ledger serves one purpose: proof of event. Every time a document is issued, a status changes, or a permission is granted, a cryptographic hash is written to the distributed ledger.
No single party controls it. The audit trail is trustworthy to all parties without requiring a central authority.</a:t>
            </a:r>
          </a:p>
        </p:txBody>
      </p:sp>
      <p:sp>
        <p:nvSpPr>
          <p:cNvPr id="14" name="TextBox 13"/>
          <p:cNvSpPr txBox="1"/>
          <p:nvPr/>
        </p:nvSpPr>
        <p:spPr>
          <a:xfrm>
            <a:off x="7800928" y="4937760"/>
            <a:ext cx="3412906" cy="274320"/>
          </a:xfrm>
          <a:prstGeom prst="rect">
            <a:avLst/>
          </a:prstGeom>
          <a:noFill/>
        </p:spPr>
        <p:txBody>
          <a:bodyPr wrap="square">
            <a:spAutoFit/>
          </a:bodyPr>
          <a:lstStyle/>
          <a:p>
            <a:pPr algn="l"/>
            <a:r>
              <a:rPr sz="800" b="1" i="1">
                <a:solidFill>
                  <a:srgbClr val="14B8A6"/>
                </a:solidFill>
              </a:rPr>
              <a:t>Immutable / Decentralised / Permissioned</a:t>
            </a:r>
          </a:p>
        </p:txBody>
      </p:sp>
      <p:sp>
        <p:nvSpPr>
          <p:cNvPr id="15" name="TextBox 14"/>
          <p:cNvSpPr txBox="1"/>
          <p:nvPr/>
        </p:nvSpPr>
        <p:spPr>
          <a:xfrm>
            <a:off x="609447" y="5760720"/>
            <a:ext cx="10970056" cy="548640"/>
          </a:xfrm>
          <a:prstGeom prst="rect">
            <a:avLst/>
          </a:prstGeom>
          <a:noFill/>
        </p:spPr>
        <p:txBody>
          <a:bodyPr wrap="square">
            <a:spAutoFit/>
          </a:bodyPr>
          <a:lstStyle/>
          <a:p>
            <a:pPr algn="l"/>
            <a:r>
              <a:rPr sz="900" b="1">
                <a:solidFill>
                  <a:srgbClr val="37326E"/>
                </a:solidFill>
              </a:rPr>
              <a:t>The ledger does not store documents or personal data. It stores only cryptographic proofs. Sensitive trade data never leaves the node that owns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447" y="205740"/>
            <a:ext cx="4875580" cy="411480"/>
          </a:xfrm>
          <a:prstGeom prst="rect">
            <a:avLst/>
          </a:prstGeom>
          <a:noFill/>
        </p:spPr>
        <p:txBody>
          <a:bodyPr wrap="square">
            <a:spAutoFit/>
          </a:bodyPr>
          <a:lstStyle/>
          <a:p>
            <a:pPr algn="l"/>
            <a:r>
              <a:rPr sz="1400" b="1">
                <a:solidFill>
                  <a:srgbClr val="37326E"/>
                </a:solidFill>
              </a:rPr>
              <a:t>TWIN Vietnam</a:t>
            </a:r>
          </a:p>
        </p:txBody>
      </p:sp>
      <p:sp>
        <p:nvSpPr>
          <p:cNvPr id="3" name="TextBox 2"/>
          <p:cNvSpPr txBox="1"/>
          <p:nvPr/>
        </p:nvSpPr>
        <p:spPr>
          <a:xfrm>
            <a:off x="10360609" y="205740"/>
            <a:ext cx="1462674" cy="342900"/>
          </a:xfrm>
          <a:prstGeom prst="rect">
            <a:avLst/>
          </a:prstGeom>
          <a:noFill/>
        </p:spPr>
        <p:txBody>
          <a:bodyPr wrap="square">
            <a:spAutoFit/>
          </a:bodyPr>
          <a:lstStyle/>
          <a:p>
            <a:pPr algn="r"/>
            <a:r>
              <a:rPr sz="1100" b="0">
                <a:solidFill>
                  <a:srgbClr val="999999"/>
                </a:solidFill>
              </a:rPr>
              <a:t>05 / 06</a:t>
            </a:r>
          </a:p>
        </p:txBody>
      </p:sp>
      <p:sp>
        <p:nvSpPr>
          <p:cNvPr id="4" name="TextBox 3"/>
          <p:cNvSpPr txBox="1"/>
          <p:nvPr/>
        </p:nvSpPr>
        <p:spPr>
          <a:xfrm>
            <a:off x="609447" y="685800"/>
            <a:ext cx="10970056" cy="274320"/>
          </a:xfrm>
          <a:prstGeom prst="rect">
            <a:avLst/>
          </a:prstGeom>
          <a:noFill/>
        </p:spPr>
        <p:txBody>
          <a:bodyPr wrap="square">
            <a:spAutoFit/>
          </a:bodyPr>
          <a:lstStyle/>
          <a:p>
            <a:pPr algn="l"/>
            <a:r>
              <a:rPr sz="1000" b="1">
                <a:solidFill>
                  <a:srgbClr val="14B8A6"/>
                </a:solidFill>
              </a:rPr>
              <a:t>PAYMENTS / TRADE FINANCE / NODES</a:t>
            </a:r>
          </a:p>
        </p:txBody>
      </p:sp>
      <p:sp>
        <p:nvSpPr>
          <p:cNvPr id="5" name="TextBox 4"/>
          <p:cNvSpPr txBox="1"/>
          <p:nvPr/>
        </p:nvSpPr>
        <p:spPr>
          <a:xfrm>
            <a:off x="609447" y="960120"/>
            <a:ext cx="10970056" cy="685800"/>
          </a:xfrm>
          <a:prstGeom prst="rect">
            <a:avLst/>
          </a:prstGeom>
          <a:noFill/>
        </p:spPr>
        <p:txBody>
          <a:bodyPr wrap="square">
            <a:spAutoFit/>
          </a:bodyPr>
          <a:lstStyle/>
          <a:p>
            <a:pPr algn="l"/>
            <a:r>
              <a:rPr sz="1800" b="1">
                <a:solidFill>
                  <a:srgbClr val="37326E"/>
                </a:solidFill>
              </a:rPr>
              <a:t>From shipment to settlement,
on one permissioned rail.</a:t>
            </a:r>
          </a:p>
        </p:txBody>
      </p:sp>
      <p:sp>
        <p:nvSpPr>
          <p:cNvPr id="6" name="TextBox 5"/>
          <p:cNvSpPr txBox="1"/>
          <p:nvPr/>
        </p:nvSpPr>
        <p:spPr>
          <a:xfrm>
            <a:off x="975116" y="2057400"/>
            <a:ext cx="2437790" cy="342900"/>
          </a:xfrm>
          <a:prstGeom prst="rect">
            <a:avLst/>
          </a:prstGeom>
          <a:noFill/>
        </p:spPr>
        <p:txBody>
          <a:bodyPr wrap="square">
            <a:spAutoFit/>
          </a:bodyPr>
          <a:lstStyle/>
          <a:p>
            <a:pPr algn="l"/>
            <a:r>
              <a:rPr sz="1300" b="1">
                <a:solidFill>
                  <a:srgbClr val="37326E"/>
                </a:solidFill>
              </a:rPr>
              <a:t>Payment Tracking</a:t>
            </a:r>
          </a:p>
        </p:txBody>
      </p:sp>
      <p:sp>
        <p:nvSpPr>
          <p:cNvPr id="7" name="TextBox 6"/>
          <p:cNvSpPr txBox="1"/>
          <p:nvPr/>
        </p:nvSpPr>
        <p:spPr>
          <a:xfrm>
            <a:off x="975116" y="2400300"/>
            <a:ext cx="2437790" cy="1234440"/>
          </a:xfrm>
          <a:prstGeom prst="rect">
            <a:avLst/>
          </a:prstGeom>
          <a:noFill/>
        </p:spPr>
        <p:txBody>
          <a:bodyPr wrap="square">
            <a:spAutoFit/>
          </a:bodyPr>
          <a:lstStyle/>
          <a:p>
            <a:pPr algn="l"/>
            <a:r>
              <a:rPr sz="900" b="0">
                <a:solidFill>
                  <a:srgbClr val="333333"/>
                </a:solidFill>
              </a:rPr>
              <a:t>Exporters raise payment records linked to commercial invoices. Status: Unpaid, Partially Paid, Paid. Every confirmation anchored on the ledger.</a:t>
            </a:r>
          </a:p>
        </p:txBody>
      </p:sp>
      <p:sp>
        <p:nvSpPr>
          <p:cNvPr id="8" name="TextBox 7"/>
          <p:cNvSpPr txBox="1"/>
          <p:nvPr/>
        </p:nvSpPr>
        <p:spPr>
          <a:xfrm>
            <a:off x="975116" y="3703320"/>
            <a:ext cx="2437790" cy="274320"/>
          </a:xfrm>
          <a:prstGeom prst="rect">
            <a:avLst/>
          </a:prstGeom>
          <a:noFill/>
        </p:spPr>
        <p:txBody>
          <a:bodyPr wrap="square">
            <a:spAutoFit/>
          </a:bodyPr>
          <a:lstStyle/>
          <a:p>
            <a:pPr algn="l"/>
            <a:r>
              <a:rPr sz="800" b="1" i="1">
                <a:solidFill>
                  <a:srgbClr val="14B8A6"/>
                </a:solidFill>
              </a:rPr>
              <a:t>Invoice-linked</a:t>
            </a:r>
          </a:p>
        </p:txBody>
      </p:sp>
      <p:sp>
        <p:nvSpPr>
          <p:cNvPr id="9" name="TextBox 8"/>
          <p:cNvSpPr txBox="1"/>
          <p:nvPr/>
        </p:nvSpPr>
        <p:spPr>
          <a:xfrm>
            <a:off x="3575425" y="2057400"/>
            <a:ext cx="2437790" cy="342900"/>
          </a:xfrm>
          <a:prstGeom prst="rect">
            <a:avLst/>
          </a:prstGeom>
          <a:noFill/>
        </p:spPr>
        <p:txBody>
          <a:bodyPr wrap="square">
            <a:spAutoFit/>
          </a:bodyPr>
          <a:lstStyle/>
          <a:p>
            <a:pPr algn="l"/>
            <a:r>
              <a:rPr sz="1300" b="1">
                <a:solidFill>
                  <a:srgbClr val="37326E"/>
                </a:solidFill>
              </a:rPr>
              <a:t>Letters of Credit</a:t>
            </a:r>
          </a:p>
        </p:txBody>
      </p:sp>
      <p:sp>
        <p:nvSpPr>
          <p:cNvPr id="10" name="TextBox 9"/>
          <p:cNvSpPr txBox="1"/>
          <p:nvPr/>
        </p:nvSpPr>
        <p:spPr>
          <a:xfrm>
            <a:off x="3575425" y="2400300"/>
            <a:ext cx="2437790" cy="1234440"/>
          </a:xfrm>
          <a:prstGeom prst="rect">
            <a:avLst/>
          </a:prstGeom>
          <a:noFill/>
        </p:spPr>
        <p:txBody>
          <a:bodyPr wrap="square">
            <a:spAutoFit/>
          </a:bodyPr>
          <a:lstStyle/>
          <a:p>
            <a:pPr algn="l"/>
            <a:r>
              <a:rPr sz="900" b="0">
                <a:solidFill>
                  <a:srgbClr val="333333"/>
                </a:solidFill>
              </a:rPr>
              <a:t>LCs are created on-framework, linked to the consignment's document set. Each stage (Draft to Drawn) is progressed and anchored. Document compliance checked automatically.</a:t>
            </a:r>
          </a:p>
        </p:txBody>
      </p:sp>
      <p:sp>
        <p:nvSpPr>
          <p:cNvPr id="11" name="TextBox 10"/>
          <p:cNvSpPr txBox="1"/>
          <p:nvPr/>
        </p:nvSpPr>
        <p:spPr>
          <a:xfrm>
            <a:off x="3575425" y="3703320"/>
            <a:ext cx="2437790" cy="274320"/>
          </a:xfrm>
          <a:prstGeom prst="rect">
            <a:avLst/>
          </a:prstGeom>
          <a:noFill/>
        </p:spPr>
        <p:txBody>
          <a:bodyPr wrap="square">
            <a:spAutoFit/>
          </a:bodyPr>
          <a:lstStyle/>
          <a:p>
            <a:pPr algn="l"/>
            <a:r>
              <a:rPr sz="800" b="1" i="1">
                <a:solidFill>
                  <a:srgbClr val="14B8A6"/>
                </a:solidFill>
              </a:rPr>
              <a:t>Bank-bridged</a:t>
            </a:r>
          </a:p>
        </p:txBody>
      </p:sp>
      <p:sp>
        <p:nvSpPr>
          <p:cNvPr id="12" name="TextBox 11"/>
          <p:cNvSpPr txBox="1"/>
          <p:nvPr/>
        </p:nvSpPr>
        <p:spPr>
          <a:xfrm>
            <a:off x="6175734" y="2057400"/>
            <a:ext cx="2437790" cy="342900"/>
          </a:xfrm>
          <a:prstGeom prst="rect">
            <a:avLst/>
          </a:prstGeom>
          <a:noFill/>
        </p:spPr>
        <p:txBody>
          <a:bodyPr wrap="square">
            <a:spAutoFit/>
          </a:bodyPr>
          <a:lstStyle/>
          <a:p>
            <a:pPr algn="l"/>
            <a:r>
              <a:rPr sz="1300" b="1">
                <a:solidFill>
                  <a:srgbClr val="37326E"/>
                </a:solidFill>
              </a:rPr>
              <a:t>Smart Contracts</a:t>
            </a:r>
          </a:p>
        </p:txBody>
      </p:sp>
      <p:sp>
        <p:nvSpPr>
          <p:cNvPr id="13" name="TextBox 12"/>
          <p:cNvSpPr txBox="1"/>
          <p:nvPr/>
        </p:nvSpPr>
        <p:spPr>
          <a:xfrm>
            <a:off x="6175734" y="2400300"/>
            <a:ext cx="2437790" cy="1234440"/>
          </a:xfrm>
          <a:prstGeom prst="rect">
            <a:avLst/>
          </a:prstGeom>
          <a:noFill/>
        </p:spPr>
        <p:txBody>
          <a:bodyPr wrap="square">
            <a:spAutoFit/>
          </a:bodyPr>
          <a:lstStyle/>
          <a:p>
            <a:pPr algn="l"/>
            <a:r>
              <a:rPr sz="900" b="0">
                <a:solidFill>
                  <a:srgbClr val="333333"/>
                </a:solidFill>
              </a:rPr>
              <a:t>Payment release conditions are encoded. When all conditions are met (MOIT CoO verified, origin &gt;= 55%), payment auto-releases. Each transition anchored.</a:t>
            </a:r>
          </a:p>
        </p:txBody>
      </p:sp>
      <p:sp>
        <p:nvSpPr>
          <p:cNvPr id="14" name="TextBox 13"/>
          <p:cNvSpPr txBox="1"/>
          <p:nvPr/>
        </p:nvSpPr>
        <p:spPr>
          <a:xfrm>
            <a:off x="6175734" y="3703320"/>
            <a:ext cx="2437790" cy="274320"/>
          </a:xfrm>
          <a:prstGeom prst="rect">
            <a:avLst/>
          </a:prstGeom>
          <a:noFill/>
        </p:spPr>
        <p:txBody>
          <a:bodyPr wrap="square">
            <a:spAutoFit/>
          </a:bodyPr>
          <a:lstStyle/>
          <a:p>
            <a:pPr algn="l"/>
            <a:r>
              <a:rPr sz="800" b="1" i="1">
                <a:solidFill>
                  <a:srgbClr val="14B8A6"/>
                </a:solidFill>
              </a:rPr>
              <a:t>Auto-release</a:t>
            </a:r>
          </a:p>
        </p:txBody>
      </p:sp>
      <p:sp>
        <p:nvSpPr>
          <p:cNvPr id="15" name="TextBox 14"/>
          <p:cNvSpPr txBox="1"/>
          <p:nvPr/>
        </p:nvSpPr>
        <p:spPr>
          <a:xfrm>
            <a:off x="8776043" y="2057400"/>
            <a:ext cx="2437790" cy="342900"/>
          </a:xfrm>
          <a:prstGeom prst="rect">
            <a:avLst/>
          </a:prstGeom>
          <a:noFill/>
        </p:spPr>
        <p:txBody>
          <a:bodyPr wrap="square">
            <a:spAutoFit/>
          </a:bodyPr>
          <a:lstStyle/>
          <a:p>
            <a:pPr algn="l"/>
            <a:r>
              <a:rPr sz="1300" b="1">
                <a:solidFill>
                  <a:srgbClr val="37326E"/>
                </a:solidFill>
              </a:rPr>
              <a:t>Finance Permissions</a:t>
            </a:r>
          </a:p>
        </p:txBody>
      </p:sp>
      <p:sp>
        <p:nvSpPr>
          <p:cNvPr id="16" name="TextBox 15"/>
          <p:cNvSpPr txBox="1"/>
          <p:nvPr/>
        </p:nvSpPr>
        <p:spPr>
          <a:xfrm>
            <a:off x="8776043" y="2400300"/>
            <a:ext cx="2437790" cy="1234440"/>
          </a:xfrm>
          <a:prstGeom prst="rect">
            <a:avLst/>
          </a:prstGeom>
          <a:noFill/>
        </p:spPr>
        <p:txBody>
          <a:bodyPr wrap="square">
            <a:spAutoFit/>
          </a:bodyPr>
          <a:lstStyle/>
          <a:p>
            <a:pPr algn="l"/>
            <a:r>
              <a:rPr sz="900" b="0">
                <a:solidFill>
                  <a:srgbClr val="333333"/>
                </a:solidFill>
              </a:rPr>
              <a:t>Financial data has its own separate permission layer. A customs officer who can see a consignment cannot see payment records unless explicitly shared.</a:t>
            </a:r>
          </a:p>
        </p:txBody>
      </p:sp>
      <p:sp>
        <p:nvSpPr>
          <p:cNvPr id="17" name="TextBox 16"/>
          <p:cNvSpPr txBox="1"/>
          <p:nvPr/>
        </p:nvSpPr>
        <p:spPr>
          <a:xfrm>
            <a:off x="8776043" y="3703320"/>
            <a:ext cx="2437790" cy="274320"/>
          </a:xfrm>
          <a:prstGeom prst="rect">
            <a:avLst/>
          </a:prstGeom>
          <a:noFill/>
        </p:spPr>
        <p:txBody>
          <a:bodyPr wrap="square">
            <a:spAutoFit/>
          </a:bodyPr>
          <a:lstStyle/>
          <a:p>
            <a:pPr algn="l"/>
            <a:r>
              <a:rPr sz="800" b="1" i="1">
                <a:solidFill>
                  <a:srgbClr val="14B8A6"/>
                </a:solidFill>
              </a:rPr>
              <a:t>Separate layer</a:t>
            </a:r>
          </a:p>
        </p:txBody>
      </p:sp>
      <p:sp>
        <p:nvSpPr>
          <p:cNvPr id="18" name="TextBox 17"/>
          <p:cNvSpPr txBox="1"/>
          <p:nvPr/>
        </p:nvSpPr>
        <p:spPr>
          <a:xfrm>
            <a:off x="609447" y="4389120"/>
            <a:ext cx="10970056" cy="274320"/>
          </a:xfrm>
          <a:prstGeom prst="rect">
            <a:avLst/>
          </a:prstGeom>
          <a:noFill/>
        </p:spPr>
        <p:txBody>
          <a:bodyPr wrap="square">
            <a:spAutoFit/>
          </a:bodyPr>
          <a:lstStyle/>
          <a:p>
            <a:pPr algn="l"/>
            <a:r>
              <a:rPr sz="1300" b="1">
                <a:solidFill>
                  <a:srgbClr val="37326E"/>
                </a:solidFill>
              </a:rPr>
              <a:t>Node Architecture: Data Stays Where It Belongs</a:t>
            </a:r>
          </a:p>
        </p:txBody>
      </p:sp>
      <p:sp>
        <p:nvSpPr>
          <p:cNvPr id="19" name="TextBox 18"/>
          <p:cNvSpPr txBox="1"/>
          <p:nvPr/>
        </p:nvSpPr>
        <p:spPr>
          <a:xfrm>
            <a:off x="975116" y="4800600"/>
            <a:ext cx="3412906" cy="205740"/>
          </a:xfrm>
          <a:prstGeom prst="rect">
            <a:avLst/>
          </a:prstGeom>
          <a:noFill/>
        </p:spPr>
        <p:txBody>
          <a:bodyPr wrap="square">
            <a:spAutoFit/>
          </a:bodyPr>
          <a:lstStyle/>
          <a:p>
            <a:pPr algn="l"/>
            <a:r>
              <a:rPr sz="1000" b="1">
                <a:solidFill>
                  <a:srgbClr val="14B8A6"/>
                </a:solidFill>
              </a:rPr>
              <a:t>Ownership</a:t>
            </a:r>
          </a:p>
        </p:txBody>
      </p:sp>
      <p:sp>
        <p:nvSpPr>
          <p:cNvPr id="20" name="TextBox 19"/>
          <p:cNvSpPr txBox="1"/>
          <p:nvPr/>
        </p:nvSpPr>
        <p:spPr>
          <a:xfrm>
            <a:off x="975116" y="5040630"/>
            <a:ext cx="3412906" cy="1234440"/>
          </a:xfrm>
          <a:prstGeom prst="rect">
            <a:avLst/>
          </a:prstGeom>
          <a:noFill/>
        </p:spPr>
        <p:txBody>
          <a:bodyPr wrap="square">
            <a:spAutoFit/>
          </a:bodyPr>
          <a:lstStyle/>
          <a:p>
            <a:pPr algn="l"/>
            <a:r>
              <a:rPr sz="800" b="0">
                <a:solidFill>
                  <a:srgbClr val="666666"/>
                </a:solidFill>
              </a:rPr>
              <a:t>Each node is operated by its owner: a government ministry, customs authority or trade institution. They control what data enters, who sees it, and when access is revoked.</a:t>
            </a:r>
          </a:p>
        </p:txBody>
      </p:sp>
      <p:sp>
        <p:nvSpPr>
          <p:cNvPr id="21" name="TextBox 20"/>
          <p:cNvSpPr txBox="1"/>
          <p:nvPr/>
        </p:nvSpPr>
        <p:spPr>
          <a:xfrm>
            <a:off x="4388022" y="4800600"/>
            <a:ext cx="3412906" cy="205740"/>
          </a:xfrm>
          <a:prstGeom prst="rect">
            <a:avLst/>
          </a:prstGeom>
          <a:noFill/>
        </p:spPr>
        <p:txBody>
          <a:bodyPr wrap="square">
            <a:spAutoFit/>
          </a:bodyPr>
          <a:lstStyle/>
          <a:p>
            <a:pPr algn="l"/>
            <a:r>
              <a:rPr sz="1000" b="1">
                <a:solidFill>
                  <a:srgbClr val="14B8A6"/>
                </a:solidFill>
              </a:rPr>
              <a:t>Peer Sync</a:t>
            </a:r>
          </a:p>
        </p:txBody>
      </p:sp>
      <p:sp>
        <p:nvSpPr>
          <p:cNvPr id="22" name="TextBox 21"/>
          <p:cNvSpPr txBox="1"/>
          <p:nvPr/>
        </p:nvSpPr>
        <p:spPr>
          <a:xfrm>
            <a:off x="4388022" y="5040630"/>
            <a:ext cx="3412906" cy="1234440"/>
          </a:xfrm>
          <a:prstGeom prst="rect">
            <a:avLst/>
          </a:prstGeom>
          <a:noFill/>
        </p:spPr>
        <p:txBody>
          <a:bodyPr wrap="square">
            <a:spAutoFit/>
          </a:bodyPr>
          <a:lstStyle/>
          <a:p>
            <a:pPr algn="l"/>
            <a:r>
              <a:rPr sz="800" b="0">
                <a:solidFill>
                  <a:srgbClr val="666666"/>
                </a:solidFill>
              </a:rPr>
              <a:t>Nodes connect peer-to-peer to share organisation directories and permitted data. Node Alpha (TNG, MOIT, Vietnam Customs, logistics) connects to Node Beta (Nike, US CBP, EU Customs).</a:t>
            </a:r>
          </a:p>
        </p:txBody>
      </p:sp>
      <p:sp>
        <p:nvSpPr>
          <p:cNvPr id="23" name="TextBox 22"/>
          <p:cNvSpPr txBox="1"/>
          <p:nvPr/>
        </p:nvSpPr>
        <p:spPr>
          <a:xfrm>
            <a:off x="7800928" y="4800600"/>
            <a:ext cx="3412906" cy="205740"/>
          </a:xfrm>
          <a:prstGeom prst="rect">
            <a:avLst/>
          </a:prstGeom>
          <a:noFill/>
        </p:spPr>
        <p:txBody>
          <a:bodyPr wrap="square">
            <a:spAutoFit/>
          </a:bodyPr>
          <a:lstStyle/>
          <a:p>
            <a:pPr algn="l"/>
            <a:r>
              <a:rPr sz="1000" b="1">
                <a:solidFill>
                  <a:srgbClr val="14B8A6"/>
                </a:solidFill>
              </a:rPr>
              <a:t>Data Protection</a:t>
            </a:r>
          </a:p>
        </p:txBody>
      </p:sp>
      <p:sp>
        <p:nvSpPr>
          <p:cNvPr id="24" name="TextBox 23"/>
          <p:cNvSpPr txBox="1"/>
          <p:nvPr/>
        </p:nvSpPr>
        <p:spPr>
          <a:xfrm>
            <a:off x="7800928" y="5040630"/>
            <a:ext cx="3412906" cy="1234440"/>
          </a:xfrm>
          <a:prstGeom prst="rect">
            <a:avLst/>
          </a:prstGeom>
          <a:noFill/>
        </p:spPr>
        <p:txBody>
          <a:bodyPr wrap="square">
            <a:spAutoFit/>
          </a:bodyPr>
          <a:lstStyle/>
          <a:p>
            <a:pPr algn="l"/>
            <a:r>
              <a:rPr sz="800" b="0">
                <a:solidFill>
                  <a:srgbClr val="666666"/>
                </a:solidFill>
              </a:rPr>
              <a:t>A consignment's documents, payments and contracts are visible only to organisations with explicit access. No party sees data they have not been invited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447" y="205740"/>
            <a:ext cx="4875580" cy="411480"/>
          </a:xfrm>
          <a:prstGeom prst="rect">
            <a:avLst/>
          </a:prstGeom>
          <a:noFill/>
        </p:spPr>
        <p:txBody>
          <a:bodyPr wrap="square">
            <a:spAutoFit/>
          </a:bodyPr>
          <a:lstStyle/>
          <a:p>
            <a:pPr algn="l"/>
            <a:r>
              <a:rPr sz="1400" b="1">
                <a:solidFill>
                  <a:srgbClr val="37326E"/>
                </a:solidFill>
              </a:rPr>
              <a:t>TWIN Vietnam</a:t>
            </a:r>
          </a:p>
        </p:txBody>
      </p:sp>
      <p:sp>
        <p:nvSpPr>
          <p:cNvPr id="3" name="TextBox 2"/>
          <p:cNvSpPr txBox="1"/>
          <p:nvPr/>
        </p:nvSpPr>
        <p:spPr>
          <a:xfrm>
            <a:off x="10360609" y="205740"/>
            <a:ext cx="1462674" cy="342900"/>
          </a:xfrm>
          <a:prstGeom prst="rect">
            <a:avLst/>
          </a:prstGeom>
          <a:noFill/>
        </p:spPr>
        <p:txBody>
          <a:bodyPr wrap="square">
            <a:spAutoFit/>
          </a:bodyPr>
          <a:lstStyle/>
          <a:p>
            <a:pPr algn="r"/>
            <a:r>
              <a:rPr sz="1100" b="0">
                <a:solidFill>
                  <a:srgbClr val="999999"/>
                </a:solidFill>
              </a:rPr>
              <a:t>06 / 06</a:t>
            </a:r>
          </a:p>
        </p:txBody>
      </p:sp>
      <p:sp>
        <p:nvSpPr>
          <p:cNvPr id="4" name="TextBox 3"/>
          <p:cNvSpPr txBox="1"/>
          <p:nvPr/>
        </p:nvSpPr>
        <p:spPr>
          <a:xfrm>
            <a:off x="609447" y="685800"/>
            <a:ext cx="10970056" cy="274320"/>
          </a:xfrm>
          <a:prstGeom prst="rect">
            <a:avLst/>
          </a:prstGeom>
          <a:noFill/>
        </p:spPr>
        <p:txBody>
          <a:bodyPr wrap="square">
            <a:spAutoFit/>
          </a:bodyPr>
          <a:lstStyle/>
          <a:p>
            <a:pPr algn="l"/>
            <a:r>
              <a:rPr sz="1000" b="1">
                <a:solidFill>
                  <a:srgbClr val="14B8A6"/>
                </a:solidFill>
              </a:rPr>
              <a:t>HOW TO PARTICIPATE</a:t>
            </a:r>
          </a:p>
        </p:txBody>
      </p:sp>
      <p:sp>
        <p:nvSpPr>
          <p:cNvPr id="5" name="TextBox 4"/>
          <p:cNvSpPr txBox="1"/>
          <p:nvPr/>
        </p:nvSpPr>
        <p:spPr>
          <a:xfrm>
            <a:off x="609447" y="960120"/>
            <a:ext cx="10970056" cy="685800"/>
          </a:xfrm>
          <a:prstGeom prst="rect">
            <a:avLst/>
          </a:prstGeom>
          <a:noFill/>
        </p:spPr>
        <p:txBody>
          <a:bodyPr wrap="square">
            <a:spAutoFit/>
          </a:bodyPr>
          <a:lstStyle/>
          <a:p>
            <a:pPr algn="l"/>
            <a:r>
              <a:rPr sz="1800" b="1">
                <a:solidFill>
                  <a:srgbClr val="37326E"/>
                </a:solidFill>
              </a:rPr>
              <a:t>Three ways to connect your
organisation to TWIN.</a:t>
            </a:r>
          </a:p>
        </p:txBody>
      </p:sp>
      <p:sp>
        <p:nvSpPr>
          <p:cNvPr id="6" name="TextBox 5"/>
          <p:cNvSpPr txBox="1"/>
          <p:nvPr/>
        </p:nvSpPr>
        <p:spPr>
          <a:xfrm>
            <a:off x="609447" y="1783080"/>
            <a:ext cx="10970056" cy="411480"/>
          </a:xfrm>
          <a:prstGeom prst="rect">
            <a:avLst/>
          </a:prstGeom>
          <a:noFill/>
        </p:spPr>
        <p:txBody>
          <a:bodyPr wrap="square">
            <a:spAutoFit/>
          </a:bodyPr>
          <a:lstStyle/>
          <a:p>
            <a:pPr algn="l"/>
            <a:r>
              <a:rPr sz="1000" b="0">
                <a:solidFill>
                  <a:srgbClr val="666666"/>
                </a:solidFill>
              </a:rPr>
              <a:t>Whether you're a government authority, a large trader, or a small importer, there is an integration path that fits your capacity.</a:t>
            </a:r>
          </a:p>
        </p:txBody>
      </p:sp>
      <p:sp>
        <p:nvSpPr>
          <p:cNvPr id="7" name="TextBox 6"/>
          <p:cNvSpPr txBox="1"/>
          <p:nvPr/>
        </p:nvSpPr>
        <p:spPr>
          <a:xfrm>
            <a:off x="975116" y="2468880"/>
            <a:ext cx="3412906" cy="342900"/>
          </a:xfrm>
          <a:prstGeom prst="rect">
            <a:avLst/>
          </a:prstGeom>
          <a:noFill/>
        </p:spPr>
        <p:txBody>
          <a:bodyPr wrap="square">
            <a:spAutoFit/>
          </a:bodyPr>
          <a:lstStyle/>
          <a:p>
            <a:pPr algn="l"/>
            <a:r>
              <a:rPr sz="1300" b="1">
                <a:solidFill>
                  <a:srgbClr val="37326E"/>
                </a:solidFill>
              </a:rPr>
              <a:t>Host a Node</a:t>
            </a:r>
          </a:p>
        </p:txBody>
      </p:sp>
      <p:sp>
        <p:nvSpPr>
          <p:cNvPr id="8" name="TextBox 7"/>
          <p:cNvSpPr txBox="1"/>
          <p:nvPr/>
        </p:nvSpPr>
        <p:spPr>
          <a:xfrm>
            <a:off x="975116" y="2811780"/>
            <a:ext cx="3412906" cy="1920240"/>
          </a:xfrm>
          <a:prstGeom prst="rect">
            <a:avLst/>
          </a:prstGeom>
          <a:noFill/>
        </p:spPr>
        <p:txBody>
          <a:bodyPr wrap="square">
            <a:spAutoFit/>
          </a:bodyPr>
          <a:lstStyle/>
          <a:p>
            <a:pPr algn="l"/>
            <a:r>
              <a:rPr sz="900" b="0">
                <a:solidFill>
                  <a:srgbClr val="333333"/>
                </a:solidFill>
              </a:rPr>
              <a:t>Run your own TWIN node on your infrastructure. Publish and manage your organisation's data locally. Sync automatically with peer nodes via P2P when you grant permission.</a:t>
            </a:r>
          </a:p>
        </p:txBody>
      </p:sp>
      <p:sp>
        <p:nvSpPr>
          <p:cNvPr id="9" name="TextBox 8"/>
          <p:cNvSpPr txBox="1"/>
          <p:nvPr/>
        </p:nvSpPr>
        <p:spPr>
          <a:xfrm>
            <a:off x="975116" y="4800600"/>
            <a:ext cx="3412906" cy="274320"/>
          </a:xfrm>
          <a:prstGeom prst="rect">
            <a:avLst/>
          </a:prstGeom>
          <a:noFill/>
        </p:spPr>
        <p:txBody>
          <a:bodyPr wrap="square">
            <a:spAutoFit/>
          </a:bodyPr>
          <a:lstStyle/>
          <a:p>
            <a:pPr algn="l"/>
            <a:r>
              <a:rPr sz="800" b="1" i="1">
                <a:solidFill>
                  <a:srgbClr val="666666"/>
                </a:solidFill>
              </a:rPr>
              <a:t>Best for: governments, customs authorities, major trade institutions</a:t>
            </a:r>
          </a:p>
        </p:txBody>
      </p:sp>
      <p:sp>
        <p:nvSpPr>
          <p:cNvPr id="10" name="TextBox 9"/>
          <p:cNvSpPr txBox="1"/>
          <p:nvPr/>
        </p:nvSpPr>
        <p:spPr>
          <a:xfrm>
            <a:off x="4388022" y="2468880"/>
            <a:ext cx="3412906" cy="342900"/>
          </a:xfrm>
          <a:prstGeom prst="rect">
            <a:avLst/>
          </a:prstGeom>
          <a:noFill/>
        </p:spPr>
        <p:txBody>
          <a:bodyPr wrap="square">
            <a:spAutoFit/>
          </a:bodyPr>
          <a:lstStyle/>
          <a:p>
            <a:pPr algn="l"/>
            <a:r>
              <a:rPr sz="1300" b="1">
                <a:solidFill>
                  <a:srgbClr val="37326E"/>
                </a:solidFill>
              </a:rPr>
              <a:t>API Integration</a:t>
            </a:r>
          </a:p>
        </p:txBody>
      </p:sp>
      <p:sp>
        <p:nvSpPr>
          <p:cNvPr id="11" name="TextBox 10"/>
          <p:cNvSpPr txBox="1"/>
          <p:nvPr/>
        </p:nvSpPr>
        <p:spPr>
          <a:xfrm>
            <a:off x="4388022" y="2811780"/>
            <a:ext cx="3412906" cy="1920240"/>
          </a:xfrm>
          <a:prstGeom prst="rect">
            <a:avLst/>
          </a:prstGeom>
          <a:noFill/>
        </p:spPr>
        <p:txBody>
          <a:bodyPr wrap="square">
            <a:spAutoFit/>
          </a:bodyPr>
          <a:lstStyle/>
          <a:p>
            <a:pPr algn="l"/>
            <a:r>
              <a:rPr sz="900" b="0">
                <a:solidFill>
                  <a:srgbClr val="333333"/>
                </a:solidFill>
              </a:rPr>
              <a:t>Connect your existing ERP, customs portal, or port management system directly to the framework via REST API. Push and pull consignment data, documents, and events programmatically.</a:t>
            </a:r>
          </a:p>
        </p:txBody>
      </p:sp>
      <p:sp>
        <p:nvSpPr>
          <p:cNvPr id="12" name="TextBox 11"/>
          <p:cNvSpPr txBox="1"/>
          <p:nvPr/>
        </p:nvSpPr>
        <p:spPr>
          <a:xfrm>
            <a:off x="4388022" y="4800600"/>
            <a:ext cx="3412906" cy="274320"/>
          </a:xfrm>
          <a:prstGeom prst="rect">
            <a:avLst/>
          </a:prstGeom>
          <a:noFill/>
        </p:spPr>
        <p:txBody>
          <a:bodyPr wrap="square">
            <a:spAutoFit/>
          </a:bodyPr>
          <a:lstStyle/>
          <a:p>
            <a:pPr algn="l"/>
            <a:r>
              <a:rPr sz="800" b="1" i="1">
                <a:solidFill>
                  <a:srgbClr val="666666"/>
                </a:solidFill>
              </a:rPr>
              <a:t>Best for: national agencies, banks, logistics platforms with existing systems</a:t>
            </a:r>
          </a:p>
        </p:txBody>
      </p:sp>
      <p:sp>
        <p:nvSpPr>
          <p:cNvPr id="13" name="TextBox 12"/>
          <p:cNvSpPr txBox="1"/>
          <p:nvPr/>
        </p:nvSpPr>
        <p:spPr>
          <a:xfrm>
            <a:off x="7800928" y="2468880"/>
            <a:ext cx="3412906" cy="342900"/>
          </a:xfrm>
          <a:prstGeom prst="rect">
            <a:avLst/>
          </a:prstGeom>
          <a:noFill/>
        </p:spPr>
        <p:txBody>
          <a:bodyPr wrap="square">
            <a:spAutoFit/>
          </a:bodyPr>
          <a:lstStyle/>
          <a:p>
            <a:pPr algn="l"/>
            <a:r>
              <a:rPr sz="1300" b="1">
                <a:solidFill>
                  <a:srgbClr val="37326E"/>
                </a:solidFill>
              </a:rPr>
              <a:t>Upload via UI</a:t>
            </a:r>
          </a:p>
        </p:txBody>
      </p:sp>
      <p:sp>
        <p:nvSpPr>
          <p:cNvPr id="14" name="TextBox 13"/>
          <p:cNvSpPr txBox="1"/>
          <p:nvPr/>
        </p:nvSpPr>
        <p:spPr>
          <a:xfrm>
            <a:off x="7800928" y="2811780"/>
            <a:ext cx="3412906" cy="1920240"/>
          </a:xfrm>
          <a:prstGeom prst="rect">
            <a:avLst/>
          </a:prstGeom>
          <a:noFill/>
        </p:spPr>
        <p:txBody>
          <a:bodyPr wrap="square">
            <a:spAutoFit/>
          </a:bodyPr>
          <a:lstStyle/>
          <a:p>
            <a:pPr algn="l"/>
            <a:r>
              <a:rPr sz="900" b="0">
                <a:solidFill>
                  <a:srgbClr val="333333"/>
                </a:solidFill>
              </a:rPr>
              <a:t>Use the web interface directly. Upload documents, register your organisation's DID, create consignments, and share trade data with partners. No technical integration needed.</a:t>
            </a:r>
          </a:p>
        </p:txBody>
      </p:sp>
      <p:sp>
        <p:nvSpPr>
          <p:cNvPr id="15" name="TextBox 14"/>
          <p:cNvSpPr txBox="1"/>
          <p:nvPr/>
        </p:nvSpPr>
        <p:spPr>
          <a:xfrm>
            <a:off x="7800928" y="4800600"/>
            <a:ext cx="3412906" cy="274320"/>
          </a:xfrm>
          <a:prstGeom prst="rect">
            <a:avLst/>
          </a:prstGeom>
          <a:noFill/>
        </p:spPr>
        <p:txBody>
          <a:bodyPr wrap="square">
            <a:spAutoFit/>
          </a:bodyPr>
          <a:lstStyle/>
          <a:p>
            <a:pPr algn="l"/>
            <a:r>
              <a:rPr sz="800" b="1" i="1">
                <a:solidFill>
                  <a:srgbClr val="666666"/>
                </a:solidFill>
              </a:rPr>
              <a:t>Best for: SMEs, importers, exporters with no dedicated IT team</a:t>
            </a:r>
          </a:p>
        </p:txBody>
      </p:sp>
      <p:sp>
        <p:nvSpPr>
          <p:cNvPr id="16" name="TextBox 15"/>
          <p:cNvSpPr txBox="1"/>
          <p:nvPr/>
        </p:nvSpPr>
        <p:spPr>
          <a:xfrm>
            <a:off x="609447" y="5623560"/>
            <a:ext cx="10970056" cy="548640"/>
          </a:xfrm>
          <a:prstGeom prst="rect">
            <a:avLst/>
          </a:prstGeom>
          <a:noFill/>
        </p:spPr>
        <p:txBody>
          <a:bodyPr wrap="square">
            <a:spAutoFit/>
          </a:bodyPr>
          <a:lstStyle/>
          <a:p>
            <a:pPr algn="l"/>
            <a:r>
              <a:rPr sz="900" b="1">
                <a:solidFill>
                  <a:srgbClr val="37326E"/>
                </a:solidFill>
              </a:rPr>
              <a:t>All three paths produce the same result: your data on the TWIN network, permissioned, verified, and anchored on the distributed ledger.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